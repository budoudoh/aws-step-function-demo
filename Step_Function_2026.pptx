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7576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docs.aws.amazon.com/step-functions/" TargetMode="External"/><Relationship Id="rId7" Type="http://schemas.openxmlformats.org/officeDocument/2006/relationships/hyperlink" Target="https://github.com/budoudoh/aws-step-function-dem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atalog.workshops.aws/stepfunctions/en-US" TargetMode="External"/><Relationship Id="rId5" Type="http://schemas.openxmlformats.org/officeDocument/2006/relationships/hyperlink" Target="https://states-language.net/spec.html" TargetMode="External"/><Relationship Id="rId4" Type="http://schemas.openxmlformats.org/officeDocument/2006/relationships/hyperlink" Target="https://docs.aws.amazon.com/cdk/api/v2/docs/aws-cdk-lib.aws_stepfunctions-readme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" y="502920"/>
            <a:ext cx="1600200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87552" y="5029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87552" y="1572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</a:rPr>
              <a:t>Snooze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43784" y="502920"/>
            <a:ext cx="1600200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843784" y="5029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T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2843784" y="1572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</a:rPr>
              <a:t>Time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0016" y="502920"/>
            <a:ext cx="1600200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00016" y="5029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E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700016" y="1572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</a:rPr>
              <a:t>Extension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56248" y="502920"/>
            <a:ext cx="1600200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56248" y="5029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P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556248" y="1572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</a:rPr>
              <a:t>Protocol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246888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</a:rPr>
              <a:t>Enterprise-Grade Morning Decision Architecture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A623"/>
                </a:solidFill>
              </a:rPr>
              <a:t>on AWS Step Functions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2926080" y="3493008"/>
            <a:ext cx="3291840" cy="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AAAAAA"/>
                </a:solidFill>
              </a:rPr>
              <a:t>Basil Udoudoh  |  Cloud GTM Lead, Slalom  |  ATL Cloud Conference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</a:rPr>
              <a:t>Hey y'all, I'm Basil Udoudoh!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26464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☁️  Cloud/Software GTM Lead at Slalom — helping enterprises migrate and modernize on the cloud (AWS, GCP, and Azure)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🏗️  17+ years building scalable AWS architectures and leading engineering teams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670048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🚀  Former Head of Technology at Scaleup (seed-stage startup)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⚙️  Built production Step Functions workflows — spoiler: we'll see one today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913632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🏈  Keeping up with my lovely wife and kids, tinkering with side tech projects, and rooting for every Atlanta sports team!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804672"/>
            <a:ext cx="260604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804672"/>
            <a:ext cx="2606040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0" y="1097280"/>
            <a:ext cx="2606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5A623"/>
                </a:solidFill>
              </a:rPr>
              <a:t>BU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Basil Udoudoh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94436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</a:rPr>
              <a:t>Cloud/Software GTM Lead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273552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9999"/>
                </a:solidFill>
              </a:rPr>
              <a:t>Slalom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3749040"/>
            <a:ext cx="1828800" cy="0"/>
          </a:xfrm>
          <a:prstGeom prst="line">
            <a:avLst/>
          </a:prstGeom>
          <a:noFill/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09360" y="3840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5A623"/>
                </a:solidFill>
              </a:rPr>
              <a:t>linkedin.com/in/basiludoudoh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7DC901-CFB9-6079-D3A6-E057637D5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446" y="1155410"/>
            <a:ext cx="1551867" cy="1163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Y'all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</a:rPr>
              <a:t>How many of you fall into the following categories?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1752" y="1261872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01752" y="1261872"/>
            <a:ext cx="2743200" cy="12801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38912" y="1426464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1444752"/>
            <a:ext cx="202996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What's your role?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" y="1993392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7784" y="1993392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Software / Cloud Engineer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" y="2670048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7784" y="267004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DevOps / SRE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" y="3346704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" y="3346704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Architect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" y="4023360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57784" y="40233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Engineering Manager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1261872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0" y="1261872"/>
            <a:ext cx="2743200" cy="1280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337560" y="1426464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37560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94760" y="1444752"/>
            <a:ext cx="202996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How deep are you in AWS?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64992" y="1993392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56432" y="1993392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Just exploring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64992" y="2670048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56432" y="267004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Building things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64992" y="3346704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56432" y="3346704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Production workloads daily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64992" y="4023360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56432" y="40233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I basically live there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099048" y="1261872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99048" y="1261872"/>
            <a:ext cx="2743200" cy="12801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236208" y="1426464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36208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93408" y="1444752"/>
            <a:ext cx="202996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Have you used Step Functions?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63640" y="1993392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55080" y="1993392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What's that? 🤔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63640" y="2670048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355080" y="267004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I've heard of it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63640" y="3346704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0" y="3346704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Played around with it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63640" y="4023360"/>
            <a:ext cx="2414016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355080" y="40233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Yes, in prod! ✅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Let's get started!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⏰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OK, so what is “AWS Step Functions”?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11887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128016" cy="1188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</a:rPr>
              <a:t>“AWS Step Functions” is a fully managed serverless orchestration service that lets you coordinate distributed applications and microservices using visual workflows — called state machines — defined in the Amazon States Language (ASL).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02336" y="2176272"/>
            <a:ext cx="267004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2336" y="2286000"/>
            <a:ext cx="2670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🔁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9496" y="297180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Visual Workflows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3429000"/>
            <a:ext cx="23408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Define logic as a state machine in JSON/CDK and see it rendered as a live, interactive diagram in the AWS Console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36976" y="2176272"/>
            <a:ext cx="267004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36976" y="2286000"/>
            <a:ext cx="2670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🔗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374136" y="297180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220+ Integrations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3429000"/>
            <a:ext cx="23408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Natively integrates with Lambda, ECS, DynamoDB, SQS, API GW, Bedrock, and hundreds more — no glue code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71616" y="2176272"/>
            <a:ext cx="267004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71616" y="2286000"/>
            <a:ext cx="2670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🛡️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208776" y="297180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Built-in Resilience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36208" y="3429000"/>
            <a:ext cx="23408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Retry, Catch, Timeout, and heartbeat are first-class citizens — not bolted-on afterthoughts in your app code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So... why not just chain some Lambdas together?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9776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3977640" cy="475488"/>
          </a:xfrm>
          <a:prstGeom prst="rect">
            <a:avLst/>
          </a:prstGeom>
          <a:solidFill>
            <a:srgbClr val="E94F37"/>
          </a:solidFill>
          <a:ln w="12700">
            <a:solidFill>
              <a:srgbClr val="E94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</a:rPr>
              <a:t>😤  DIY Orchestration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274320" y="1371600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🐛  Custom retry/error logic in every function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186537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186537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🕵️  Zero visibility into what step failed or why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4320" y="2359152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23591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🔥  Timeouts are entirely your problem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285292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8912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🤯  Parallel execution? DIY thread management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3346704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8912" y="334670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📜  Coordination logic buried in your app code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74320" y="384048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8912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💸  Paying for Lambda idle time between steps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92040" y="804672"/>
            <a:ext cx="39776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92040" y="804672"/>
            <a:ext cx="3977640" cy="4754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804672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</a:rPr>
              <a:t>✅  With Step Functions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56632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🔁  Built-in retry with exponential backoff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892040" y="186537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56632" y="186537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👁️  Visual execution history in the console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892040" y="2359152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56632" y="23591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⏱️  Per-state timeouts, handled automatically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892040" y="285292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56632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⚡  Parallel branches are a first-class state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892040" y="3346704"/>
            <a:ext cx="3977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56632" y="334670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🗺️  Workflow logic lives in the state machine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892040" y="384048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56632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💰  Express workflows for high-volume / low-cost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251960" y="2377440"/>
            <a:ext cx="640080" cy="6400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5196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Sounds good! How does Step Functions work?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2336" y="822960"/>
            <a:ext cx="2670048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44752" y="960120"/>
            <a:ext cx="585216" cy="5852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4475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02336" y="1664208"/>
            <a:ext cx="26700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✍️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39496" y="2359152"/>
            <a:ext cx="239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Define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39496" y="28346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AAAAAA"/>
                </a:solidFill>
              </a:rPr>
              <a:t>Amazon States Language (ASL)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85216" y="3246120"/>
            <a:ext cx="230428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Write your workflow as a JSON state machine — or use CDK/SAM to generate it from TypeScript or Python. States, transitions, retries, and error handling all live here.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72384" y="2423160"/>
            <a:ext cx="164592" cy="0"/>
          </a:xfrm>
          <a:prstGeom prst="line">
            <a:avLst/>
          </a:prstGeom>
          <a:noFill/>
          <a:ln w="31750">
            <a:solidFill>
              <a:srgbClr val="F5A623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36976" y="822960"/>
            <a:ext cx="2670048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79392" y="960120"/>
            <a:ext cx="585216" cy="5852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27939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236976" y="1664208"/>
            <a:ext cx="26700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🔀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374136" y="2359152"/>
            <a:ext cx="239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Deploy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74136" y="28346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AAAAAA"/>
                </a:solidFill>
              </a:rPr>
              <a:t>State Machine in AWS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19856" y="3246120"/>
            <a:ext cx="230428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The Step Functions service hosts your state machine. The console renders it visually, tracks every execution, and stores the full history of each run.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07024" y="2423160"/>
            <a:ext cx="164592" cy="0"/>
          </a:xfrm>
          <a:prstGeom prst="line">
            <a:avLst/>
          </a:prstGeom>
          <a:noFill/>
          <a:ln w="31750">
            <a:solidFill>
              <a:srgbClr val="F5A623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71616" y="822960"/>
            <a:ext cx="2670048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14032" y="960120"/>
            <a:ext cx="585216" cy="5852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1403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071616" y="1664208"/>
            <a:ext cx="26700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▶️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208776" y="2359152"/>
            <a:ext cx="239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Execute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208776" y="28346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AAAAAA"/>
                </a:solidFill>
              </a:rPr>
              <a:t>&amp; Observe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54496" y="3246120"/>
            <a:ext cx="230428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Trigger via </a:t>
            </a:r>
            <a:r>
              <a:rPr lang="en-US" sz="1200" dirty="0" err="1">
                <a:solidFill>
                  <a:srgbClr val="FFFFFF"/>
                </a:solidFill>
              </a:rPr>
              <a:t>EventBridge</a:t>
            </a:r>
            <a:r>
              <a:rPr lang="en-US" sz="1200" dirty="0">
                <a:solidFill>
                  <a:srgbClr val="FFFFFF"/>
                </a:solidFill>
              </a:rPr>
              <a:t>, API Gateway, or SDK. Watch each state transition in real-time — with inputs, outputs, and timing for every step.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Meet the States 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01752" y="804672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01752" y="804672"/>
            <a:ext cx="2066544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01752" y="932688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93192" y="1517904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</a:rPr>
              <a:t>Task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" y="1883664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Do a unit of work — invoke Lambda, call an API, run an ECS task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9736" y="804672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59736" y="804672"/>
            <a:ext cx="2066544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59736" y="932688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🔀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51176" y="1517904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</a:rPr>
              <a:t>Choice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51176" y="1883664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Branch logic based on input conditions (the if/else of workflows)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17720" y="804672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17720" y="804672"/>
            <a:ext cx="2066544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17720" y="932688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09160" y="1517904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Parallel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9160" y="1883664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Run multiple branches simultaneously and wait for all to finish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75704" y="804672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775704" y="804672"/>
            <a:ext cx="2066544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775704" y="932688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867144" y="1517904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</a:rPr>
              <a:t>Map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67144" y="1883664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Iterate over an array, processing each item (optionally in parallel)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01752" y="2871216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01752" y="2871216"/>
            <a:ext cx="206654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01752" y="299923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93192" y="3584448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</a:rPr>
              <a:t>Wait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3192" y="3950208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Pause execution for a duration or until a specific timestamp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459736" y="2871216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459736" y="2871216"/>
            <a:ext cx="2066544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459736" y="299923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📤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51176" y="3584448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</a:rPr>
              <a:t>Pass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551176" y="3950208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Pass input to output — optionally inject or transform data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17720" y="2871216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17720" y="2871216"/>
            <a:ext cx="2066544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17720" y="299923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4709160" y="3584448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</a:rPr>
              <a:t>Succeed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709160" y="3950208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Terminate the execution successfully — you're done here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75704" y="2871216"/>
            <a:ext cx="2066544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775704" y="2871216"/>
            <a:ext cx="2066544" cy="91440"/>
          </a:xfrm>
          <a:prstGeom prst="rect">
            <a:avLst/>
          </a:prstGeom>
          <a:solidFill>
            <a:srgbClr val="E94F37"/>
          </a:solidFill>
          <a:ln w="12700">
            <a:solidFill>
              <a:srgbClr val="E94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75704" y="299923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❌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6867144" y="3584448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94F37"/>
                </a:solidFill>
              </a:rPr>
              <a:t>Fail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867144" y="3950208"/>
            <a:ext cx="18836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Terminate the execution with a named error and cause message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Standard vs. Express Workflows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9776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3977640" cy="4937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Standard Workflow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4320" y="1389888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389888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Duration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48840" y="1389888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Up to 1 year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901952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1901952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48840" y="1901952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Exactly-once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2414016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2414016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8840" y="2414016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2,000 / sec (default)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2926080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2926080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History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48840" y="2926080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Full execution history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3438144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438144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Pricing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148840" y="3438144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Per state transition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74320" y="3950208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3950208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148840" y="3950208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Order processing, approval flows, long-running critical workflows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92040" y="804672"/>
            <a:ext cx="39776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892040" y="804672"/>
            <a:ext cx="3977640" cy="4937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92040" y="804672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Express Workflow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892040" y="1389888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0" y="1389888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Duration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66560" y="1389888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Up to 5 minutes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892040" y="1901952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0" y="1901952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Model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66560" y="1901952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At-least-once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892040" y="2414016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0" y="2414016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Execution Rate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766560" y="2414016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100,000+ / sec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892040" y="2926080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029200" y="2926080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History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766560" y="2926080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CloudWatch Logs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892040" y="3438144"/>
            <a:ext cx="3977640" cy="512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029200" y="3438144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Pricing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766560" y="3438144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Per execution + duration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892040" y="3950208"/>
            <a:ext cx="39776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029200" y="3950208"/>
            <a:ext cx="1691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766560" y="3950208"/>
            <a:ext cx="2011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IoT pipelines, streaming, high-volume microservice orchestration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251960" y="2487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When Things Go Wrong: Error Handling &amp; Retries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8328" y="804672"/>
            <a:ext cx="2761488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38328" y="804672"/>
            <a:ext cx="2761488" cy="12801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" y="950976"/>
            <a:ext cx="27614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🔁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48056" y="1572768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97316"/>
                </a:solidFill>
              </a:rPr>
              <a:t>Retry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5488" y="201168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Automatically re-attempt a failing state. Configure max attempts, initial interval, backoff rate, and which error types to catch.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" y="2971800"/>
            <a:ext cx="2542032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21208" y="2971800"/>
            <a:ext cx="239572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"Retry": [{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"ErrorEquals":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["Lambda.ServiceException"],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"IntervalSeconds": 2,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"MaxAttempts": 3,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"BackoffRate": 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91256" y="804672"/>
            <a:ext cx="2761488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91256" y="804672"/>
            <a:ext cx="2761488" cy="12801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91256" y="950976"/>
            <a:ext cx="27614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🪤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00984" y="1572768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B5CF6"/>
                </a:solidFill>
              </a:rPr>
              <a:t>Catch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328416" y="201168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Catch errors that exhaust retries and route to a fallback state. Think try/catch for your state machine — with full input forwarding.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00984" y="2971800"/>
            <a:ext cx="2542032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74136" y="2971800"/>
            <a:ext cx="239572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"Catch": [{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"ErrorEquals":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["States.ALL"],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"Next": "HandleError",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"ResultPath": "$.error"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44184" y="804672"/>
            <a:ext cx="2761488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44184" y="804672"/>
            <a:ext cx="2761488" cy="128016"/>
          </a:xfrm>
          <a:prstGeom prst="rect">
            <a:avLst/>
          </a:prstGeom>
          <a:solidFill>
            <a:srgbClr val="E94F37"/>
          </a:solidFill>
          <a:ln w="12700">
            <a:solidFill>
              <a:srgbClr val="E94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44184" y="950976"/>
            <a:ext cx="27614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153912" y="1572768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4F37"/>
                </a:solidFill>
              </a:rPr>
              <a:t>Timeout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81344" y="201168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Set HeartbeatSeconds and TimeoutSeconds per state. Step Functions will fail the state automatically if limits are exceeded.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53912" y="2971800"/>
            <a:ext cx="2542032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27064" y="2971800"/>
            <a:ext cx="239572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"TimeoutSeconds": 300,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"HeartbeatSeconds": 60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Per-state, not global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Callback Pattern: waitForTaskToken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What is it?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50292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A special Task integration mode where Step Functions pauses execution and generates a unique task token. The workflow is completely suspended — no polling, no compute cost — until an external system calls SendTaskSuccess or SendTaskFailure with that token.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39572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When would I use it?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👤  Human approval steps (manager reviews a request)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3328416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📧  Waiting for email or SMS confirmation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" y="3803904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🤝  Integrating with external async systems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" y="4279392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🧍  Literally waiting for a human to get out of bed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0" y="822960"/>
            <a:ext cx="3246120" cy="5669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42432" y="82296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State Machine Starts Task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292340" y="1389888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669280" y="1517904"/>
            <a:ext cx="324612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42432" y="1517904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Task Token Generated &amp; Sent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92340" y="2084832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669280" y="2212848"/>
            <a:ext cx="3246120" cy="5669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42432" y="2212848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⏸️  Execution PAUSED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292340" y="2779776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669280" y="2907792"/>
            <a:ext cx="3246120" cy="5669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42432" y="290779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External System Completes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292340" y="3474720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669280" y="3602736"/>
            <a:ext cx="324612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42432" y="3602736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SendTaskSuccess(token)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292340" y="4169664"/>
            <a:ext cx="0" cy="128016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9280" y="4297680"/>
            <a:ext cx="3246120" cy="5669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742432" y="429768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▶️  Execution RESUMES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</a:rPr>
              <a:t>Let's Build Something!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🏗️</a:t>
            </a:r>
            <a:endParaRPr lang="en-US" sz="4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888888"/>
                </a:solidFill>
              </a:rPr>
              <a:t>Introducing...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1188720" y="758952"/>
            <a:ext cx="105156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88720" y="758952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0" b="1" dirty="0">
                <a:solidFill>
                  <a:srgbClr val="1A1A2E"/>
                </a:solidFill>
              </a:rPr>
              <a:t>S</a:t>
            </a:r>
            <a:endParaRPr lang="en-US" sz="5500" dirty="0"/>
          </a:p>
        </p:txBody>
      </p:sp>
      <p:sp>
        <p:nvSpPr>
          <p:cNvPr id="5" name="Text 3"/>
          <p:cNvSpPr/>
          <p:nvPr/>
        </p:nvSpPr>
        <p:spPr>
          <a:xfrm>
            <a:off x="2331720" y="82296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55577"/>
                </a:solidFill>
              </a:rPr>
              <a:t>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71800" y="786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Snooze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1188720" y="1783080"/>
            <a:ext cx="105156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178308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0" b="1" dirty="0">
                <a:solidFill>
                  <a:srgbClr val="1A1A2E"/>
                </a:solidFill>
              </a:rPr>
              <a:t>T</a:t>
            </a:r>
            <a:endParaRPr lang="en-US" sz="5500" dirty="0"/>
          </a:p>
        </p:txBody>
      </p:sp>
      <p:sp>
        <p:nvSpPr>
          <p:cNvPr id="9" name="Text 7"/>
          <p:cNvSpPr/>
          <p:nvPr/>
        </p:nvSpPr>
        <p:spPr>
          <a:xfrm>
            <a:off x="2331720" y="1847088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55577"/>
                </a:solidFill>
              </a:rPr>
              <a:t>—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971800" y="181051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Time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1188720" y="2807208"/>
            <a:ext cx="105156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88720" y="280720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0" b="1" dirty="0">
                <a:solidFill>
                  <a:srgbClr val="1A1A2E"/>
                </a:solidFill>
              </a:rPr>
              <a:t>E</a:t>
            </a:r>
            <a:endParaRPr lang="en-US" sz="5500" dirty="0"/>
          </a:p>
        </p:txBody>
      </p:sp>
      <p:sp>
        <p:nvSpPr>
          <p:cNvPr id="13" name="Text 11"/>
          <p:cNvSpPr/>
          <p:nvPr/>
        </p:nvSpPr>
        <p:spPr>
          <a:xfrm>
            <a:off x="2331720" y="2871216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55577"/>
                </a:solidFill>
              </a:rPr>
              <a:t>—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971800" y="2834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Extension</a:t>
            </a:r>
            <a:endParaRPr lang="en-US" sz="4000" dirty="0"/>
          </a:p>
        </p:txBody>
      </p:sp>
      <p:sp>
        <p:nvSpPr>
          <p:cNvPr id="15" name="Shape 13"/>
          <p:cNvSpPr/>
          <p:nvPr/>
        </p:nvSpPr>
        <p:spPr>
          <a:xfrm>
            <a:off x="1188720" y="3831336"/>
            <a:ext cx="105156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88720" y="3831336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0" b="1" dirty="0">
                <a:solidFill>
                  <a:srgbClr val="1A1A2E"/>
                </a:solidFill>
              </a:rPr>
              <a:t>P</a:t>
            </a:r>
            <a:endParaRPr lang="en-US" sz="5500" dirty="0"/>
          </a:p>
        </p:txBody>
      </p:sp>
      <p:sp>
        <p:nvSpPr>
          <p:cNvPr id="17" name="Text 15"/>
          <p:cNvSpPr/>
          <p:nvPr/>
        </p:nvSpPr>
        <p:spPr>
          <a:xfrm>
            <a:off x="2331720" y="3895344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55577"/>
                </a:solidFill>
              </a:rPr>
              <a:t>—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971800" y="385876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Protocol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88888"/>
                </a:solidFill>
              </a:rPr>
              <a:t>An enterprise-grade solution to a Monday morning problem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S.T.E.P. Architecture: The Full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64592" y="749808"/>
            <a:ext cx="109728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10896" y="749808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944" y="749808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⏰  ALARM FIRES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05072" y="813816"/>
            <a:ext cx="1005840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005072" y="8138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Task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2336" y="1152144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64592" y="1234440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64592" y="1234440"/>
            <a:ext cx="109728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0896" y="1234440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4944" y="1234440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⚡  PARALLEL ASSESSMENT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05072" y="1298448"/>
            <a:ext cx="100584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005072" y="12984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Parallel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02336" y="1636776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64592" y="1719072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64592" y="1719072"/>
            <a:ext cx="109728" cy="40233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10896" y="171907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4944" y="1719072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🔀  IS IT WEEKEND?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05072" y="1783080"/>
            <a:ext cx="100584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00507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Choice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2336" y="2121408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64592" y="2203704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64592" y="2203704"/>
            <a:ext cx="109728" cy="40233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10896" y="2203704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" y="2203704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📋  MAP: EVALUATE EXCUSES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005072" y="2267712"/>
            <a:ext cx="1005840" cy="274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05072" y="22677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Map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02336" y="2606040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64592" y="2688336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64592" y="2688336"/>
            <a:ext cx="109728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10896" y="2688336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4944" y="268833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🧮  CALCULATE SNOOZE WINDOW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005072" y="2752344"/>
            <a:ext cx="1005840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005072" y="2752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Task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02336" y="3090672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64592" y="3172968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64592" y="3172968"/>
            <a:ext cx="109728" cy="40233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10896" y="3172968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</a:rPr>
              <a:t>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94944" y="3172968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😴  EXECUTE SNOOZE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005072" y="3236976"/>
            <a:ext cx="1005840" cy="2743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005072" y="32369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Wait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02336" y="3575304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64592" y="3657600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64592" y="3657600"/>
            <a:ext cx="109728" cy="40233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10896" y="3657600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94944" y="3657600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🔁  WAKE UP CHECK (retry ×3)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005072" y="3721608"/>
            <a:ext cx="1005840" cy="274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005072" y="37216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Retry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02336" y="4059936"/>
            <a:ext cx="0" cy="82296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64592" y="4142232"/>
            <a:ext cx="49560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64592" y="4142232"/>
            <a:ext cx="109728" cy="40233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10896" y="414223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66F1"/>
                </a:solidFill>
              </a:rPr>
              <a:t>8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94944" y="4142232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📞  AWAIT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005072" y="4206240"/>
            <a:ext cx="1005840" cy="2743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005072" y="4206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Callback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4592" y="4681728"/>
            <a:ext cx="233172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4592" y="46817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☕  SUCCEED: You made it!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788920" y="4681728"/>
            <a:ext cx="2331720" cy="438912"/>
          </a:xfrm>
          <a:prstGeom prst="rect">
            <a:avLst/>
          </a:prstGeom>
          <a:solidFill>
            <a:srgbClr val="E94F37"/>
          </a:solidFill>
          <a:ln w="12700">
            <a:solidFill>
              <a:srgbClr val="E94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788920" y="46817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🚨  FAIL: You're late.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376672" y="749808"/>
            <a:ext cx="3584448" cy="4343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376672" y="749808"/>
            <a:ext cx="3584448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468112" y="859536"/>
            <a:ext cx="34015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State Types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5486400" y="1335024"/>
            <a:ext cx="329184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897880" y="1335024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Task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7242048" y="1335024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Invoke a service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5486400" y="1810512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897880" y="181051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Parallel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7242048" y="1810512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Run branches concurrently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486400" y="2286000"/>
            <a:ext cx="32918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5897880" y="2286000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Choice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7242048" y="2286000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Branch on condition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486400" y="2761488"/>
            <a:ext cx="329184" cy="32918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897880" y="276148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Map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242048" y="2761488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Iterate over array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5486400" y="3236976"/>
            <a:ext cx="329184" cy="32918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5897880" y="3236976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Wait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7242048" y="323697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Pause execution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5486400" y="3712464"/>
            <a:ext cx="329184" cy="32918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897880" y="3712464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Retry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7242048" y="3712464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Auto-retry on failure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5486400" y="4187952"/>
            <a:ext cx="329184" cy="32918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897880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Callback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7242048" y="4187952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</a:rPr>
              <a:t>Wait for external signal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5468112" y="4681728"/>
            <a:ext cx="3401568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5468112" y="4681728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🎉  Step 3: Weekend = YES → instant Succeed (sleep in!)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Let's look at the code!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💻</a:t>
            </a:r>
            <a:endParaRPr lang="en-US" sz="4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S.T.E.P. — What the Demo Covers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9456" y="80467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19456" y="804672"/>
            <a:ext cx="9144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80467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B82F6"/>
                </a:solidFill>
              </a:rPr>
              <a:t>⚙️  Task States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85416" y="89611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04288" y="80467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Lambda invocations for alarm check, snooze calculation, and wake-up verification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0016" y="80467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0016" y="804672"/>
            <a:ext cx="914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82896" y="80467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⚡  Parallel State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665976" y="89611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84848" y="80467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Simultaneous calendar check, weather/outfit complexity rating, and weekend detection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9456" y="144475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19456" y="1444752"/>
            <a:ext cx="9144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02336" y="144475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A623"/>
                </a:solidFill>
              </a:rPr>
              <a:t>🔀  Choice State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185416" y="153619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04288" y="144475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Is it a weekend? Instant Succeed. Otherwise, the gauntlet continues.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0016" y="144475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0016" y="1444752"/>
            <a:ext cx="9144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82896" y="144475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B5CF6"/>
                </a:solidFill>
              </a:rPr>
              <a:t>🗺️  Map State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65976" y="153619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84848" y="144475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Iterates over the excuse inventory array, scoring each excuse's viability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19456" y="208483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19456" y="2084832"/>
            <a:ext cx="91440" cy="5486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02336" y="208483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4748B"/>
                </a:solidFill>
              </a:rPr>
              <a:t>⏱️  Wait State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185416" y="217627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304288" y="208483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literal snooze — execution is paused for the calculated snooze duration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0016" y="208483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00016" y="2084832"/>
            <a:ext cx="91440" cy="5486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82896" y="208483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16"/>
                </a:solidFill>
              </a:rPr>
              <a:t>🔁  Retry + Backoff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665976" y="217627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784848" y="208483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Wake-up check retries 3× with exponential backoff (each snooze gets longer)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9456" y="272491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19456" y="2724912"/>
            <a:ext cx="91440" cy="5486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02336" y="272491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366F1"/>
                </a:solidFill>
              </a:rPr>
              <a:t>📞  Callback (waitForTaskToken)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185416" y="281635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304288" y="272491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Workflow pauses until an external signal confirms the human is vertical and conscious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00016" y="2724912"/>
            <a:ext cx="422452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700016" y="2724912"/>
            <a:ext cx="9144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82896" y="272491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🏗️  CDK Deployment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665976" y="2816352"/>
            <a:ext cx="0" cy="3657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784848" y="2724912"/>
            <a:ext cx="20482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Full TypeScript CDK stack — State Machine, Lambdas, IAM roles, all in one cdk deploy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Takeaways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96926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9692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84124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🔀  Step Functions transforms coordination code into a visual, auditable state machine — your business logic lives in the workflow, not scattered across Lambda functions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79222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792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32688" y="166420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🛡️  Retry, Catch, Timeout, and heartbeat are first-class citizens — you get enterprise-grade resilience without writing a single try/catch in your application code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1518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" y="26151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32688" y="248716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⚡  Parallel, Map, and Choice states make complex orchestration trivial — parallel execution, array iteration, and conditional branching all out of the box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43814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4320" y="34381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31012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📞  The waitForTaskToken callback pattern unlocks powerful async integrations — pause for human approval, external systems, or (apparently) humans getting out of bed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4320" y="4261104"/>
            <a:ext cx="512064" cy="51206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42611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2688" y="4133088"/>
            <a:ext cx="8001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🏗️  CDK + Step Functions is a killer combo — define your workflow, Lambdas, and IAM in TypeScript and ship the whole thing with one cdk deploy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Functions Learning Resources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49640" y="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</a:rPr>
              <a:t>18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41248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841248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📖  AWS Step Functions Developer Guide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28032" y="841248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3"/>
              </a:rPr>
              <a:t>docs.aws.amazon.com/step-functions/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591056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591056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1591056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🔨  AWS CDK Step Functions Constructs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28032" y="1591056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4"/>
              </a:rPr>
              <a:t>docs.aws.amazon.com/cdk/api/v2/docs/aws-cdk-lib.aws_stepfunctions-readme.html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340864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340864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340864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🗺️  Amazon States Language Specification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28032" y="2340864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5"/>
              </a:rPr>
              <a:t>states-language.net/spec.html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090672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090672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090672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🧪  Step Functions Workshop (AWS)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28032" y="3090672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6"/>
              </a:rPr>
              <a:t>catalog.workshops.aws/stepfunctions/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840480"/>
            <a:ext cx="6949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3840480"/>
            <a:ext cx="109728" cy="6035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3840480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💻  S.T.E.P. Demo Repo (this talk)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28032" y="3840480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B82F6"/>
                </a:solidFill>
                <a:hlinkClick r:id="rId7"/>
              </a:rPr>
              <a:t>github.com/budoudoh/aws-step-function-demo</a:t>
            </a:r>
            <a:endParaRPr lang="en-US" sz="1000" i="1" dirty="0">
              <a:solidFill>
                <a:srgbClr val="3B82F6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7498080" y="22402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Demo Repo →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ADD3EDF-CABF-5A77-35C8-D94E0A776F02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7632700" y="838200"/>
            <a:ext cx="1320800" cy="132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827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</a:rPr>
              <a:t>Thank you!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71600" y="1920240"/>
            <a:ext cx="1463040" cy="1417320"/>
          </a:xfrm>
          <a:prstGeom prst="rect">
            <a:avLst/>
          </a:prstGeom>
          <a:solidFill>
            <a:srgbClr val="2A2A4A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7160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371600" y="274320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Snooze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17520" y="1920240"/>
            <a:ext cx="1463040" cy="1417320"/>
          </a:xfrm>
          <a:prstGeom prst="rect">
            <a:avLst/>
          </a:prstGeom>
          <a:solidFill>
            <a:srgbClr val="2A2A4A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1752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017520" y="274320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Time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920240"/>
            <a:ext cx="1463040" cy="1417320"/>
          </a:xfrm>
          <a:prstGeom prst="rect">
            <a:avLst/>
          </a:prstGeom>
          <a:solidFill>
            <a:srgbClr val="2A2A4A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E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4663440" y="274320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Extension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1920240"/>
            <a:ext cx="1463040" cy="1417320"/>
          </a:xfrm>
          <a:prstGeom prst="rect">
            <a:avLst/>
          </a:prstGeom>
          <a:solidFill>
            <a:srgbClr val="2A2A4A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P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309360" y="274320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Protocol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0" y="3566160"/>
            <a:ext cx="457200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703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Basil Udoudoh  |  Cloud GTM Lead, Slalom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</a:rPr>
              <a:t>linkedin.com/in/basiludoudoh  |  github.com/budoudoh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</a:rPr>
              <a:t>☕  Now go set up a proper wake-up workflow.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3B8861-A040-468F-8242-EC9E0A01EC6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cb30148-467c-4a1d-804e-02707dcb50a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1649</Words>
  <Application>Microsoft Office PowerPoint</Application>
  <PresentationFormat>On-screen Show (16:9)</PresentationFormat>
  <Paragraphs>327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S.T.E.P.: Snooze Time Extension Protocol</dc:title>
  <dc:subject>PptxGenJS Presentation</dc:subject>
  <dc:creator>Basil Udoudoh</dc:creator>
  <cp:lastModifiedBy>Basil Udoudoh</cp:lastModifiedBy>
  <cp:revision>3</cp:revision>
  <dcterms:created xsi:type="dcterms:W3CDTF">2026-05-24T17:03:01Z</dcterms:created>
  <dcterms:modified xsi:type="dcterms:W3CDTF">2026-05-24T18:31:41Z</dcterms:modified>
</cp:coreProperties>
</file>