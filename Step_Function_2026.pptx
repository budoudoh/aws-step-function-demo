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5" r:id="rId19"/>
    <p:sldId id="274" r:id="rId2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2" d="100"/>
          <a:sy n="132" d="100"/>
        </p:scale>
        <p:origin x="132" y="3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075767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hyperlink" Target="https://docs.aws.amazon.com/step-functions/" TargetMode="External"/><Relationship Id="rId7" Type="http://schemas.openxmlformats.org/officeDocument/2006/relationships/hyperlink" Target="https://github.com/budoudoh/aws-step-function-demo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catalog.workshops.aws/stepfunctions/en-US" TargetMode="External"/><Relationship Id="rId5" Type="http://schemas.openxmlformats.org/officeDocument/2006/relationships/hyperlink" Target="https://states-language.net/spec.html" TargetMode="External"/><Relationship Id="rId4" Type="http://schemas.openxmlformats.org/officeDocument/2006/relationships/hyperlink" Target="https://docs.aws.amazon.com/cdk/api/v2/docs/aws-cdk-lib.aws_stepfunctions-readme.html" TargetMode="Externa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7552" y="502920"/>
            <a:ext cx="1600200" cy="173736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87552" y="502920"/>
            <a:ext cx="1600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1A1A2E"/>
                </a:solidFill>
              </a:rPr>
              <a:t>S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87552" y="1572768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A2E"/>
                </a:solidFill>
              </a:rPr>
              <a:t>Snooze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843784" y="502920"/>
            <a:ext cx="1600200" cy="173736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843784" y="502920"/>
            <a:ext cx="1600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1A1A2E"/>
                </a:solidFill>
              </a:rPr>
              <a:t>T</a:t>
            </a:r>
            <a:endParaRPr lang="en-US" sz="7200" dirty="0"/>
          </a:p>
        </p:txBody>
      </p:sp>
      <p:sp>
        <p:nvSpPr>
          <p:cNvPr id="7" name="Text 5"/>
          <p:cNvSpPr/>
          <p:nvPr/>
        </p:nvSpPr>
        <p:spPr>
          <a:xfrm>
            <a:off x="2843784" y="1572768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A2E"/>
                </a:solidFill>
              </a:rPr>
              <a:t>Time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700016" y="502920"/>
            <a:ext cx="1600200" cy="173736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700016" y="502920"/>
            <a:ext cx="1600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1A1A2E"/>
                </a:solidFill>
              </a:rPr>
              <a:t>E</a:t>
            </a:r>
            <a:endParaRPr lang="en-US" sz="7200" dirty="0"/>
          </a:p>
        </p:txBody>
      </p:sp>
      <p:sp>
        <p:nvSpPr>
          <p:cNvPr id="10" name="Text 8"/>
          <p:cNvSpPr/>
          <p:nvPr/>
        </p:nvSpPr>
        <p:spPr>
          <a:xfrm>
            <a:off x="4700016" y="1572768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A2E"/>
                </a:solidFill>
              </a:rPr>
              <a:t>Extension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556248" y="502920"/>
            <a:ext cx="1600200" cy="173736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556248" y="502920"/>
            <a:ext cx="1600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1A1A2E"/>
                </a:solidFill>
              </a:rPr>
              <a:t>P</a:t>
            </a:r>
            <a:endParaRPr lang="en-US" sz="7200" dirty="0"/>
          </a:p>
        </p:txBody>
      </p:sp>
      <p:sp>
        <p:nvSpPr>
          <p:cNvPr id="13" name="Text 11"/>
          <p:cNvSpPr/>
          <p:nvPr/>
        </p:nvSpPr>
        <p:spPr>
          <a:xfrm>
            <a:off x="6556248" y="1572768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A2E"/>
                </a:solidFill>
              </a:rPr>
              <a:t>Protocol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2468880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i="1" dirty="0">
                <a:solidFill>
                  <a:srgbClr val="FFFFFF"/>
                </a:solidFill>
              </a:rPr>
              <a:t>Enterprise-Grade Morning Decision Architecture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57200" y="28803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5A623"/>
                </a:solidFill>
              </a:rPr>
              <a:t>on AWS Step Functions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2926080" y="3493008"/>
            <a:ext cx="3291840" cy="0"/>
          </a:xfrm>
          <a:prstGeom prst="line">
            <a:avLst/>
          </a:prstGeom>
          <a:noFill/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AAAAAA"/>
                </a:solidFill>
              </a:rPr>
              <a:t>Basil Udoudoh  |  Cloud GTM Lead, Slalom  |  ATL Cloud Conference 2026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47472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About 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549640" y="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5A623"/>
                </a:solidFill>
              </a:rPr>
              <a:t>2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65760" y="804672"/>
            <a:ext cx="5669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</a:rPr>
              <a:t>Hey y'all, I'm Basil Udoudoh!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65760" y="1426464"/>
            <a:ext cx="55778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</a:rPr>
              <a:t>☁️  Cloud/Software GTM Lead at Slalom — helping enterprises migrate and modernize on the cloud (AWS, GCP, and Azure)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2048256"/>
            <a:ext cx="55778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</a:rPr>
              <a:t>🏗️  17+ years building scalable AWS architectures and leading engineering teams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2670048"/>
            <a:ext cx="55778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</a:rPr>
              <a:t>🚀  Former Head of Technology at Scaleup (seed-stage startup)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760" y="3291840"/>
            <a:ext cx="55778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</a:rPr>
              <a:t>⚙️  Built production Step Functions workflows — spoiler: we'll see one today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" y="3913632"/>
            <a:ext cx="55778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</a:rPr>
              <a:t>🏈  Keeping up with my lovely wife and kids, tinkering with side tech projects, and rooting for every Atlanta sports team!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309360" y="804672"/>
            <a:ext cx="2606040" cy="41148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309360" y="804672"/>
            <a:ext cx="2606040" cy="128016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309360" y="1097280"/>
            <a:ext cx="26060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400" b="1" dirty="0">
                <a:solidFill>
                  <a:srgbClr val="F5A623"/>
                </a:solidFill>
              </a:rPr>
              <a:t>BU</a:t>
            </a:r>
            <a:endParaRPr lang="en-US" sz="6400" dirty="0"/>
          </a:p>
        </p:txBody>
      </p:sp>
      <p:sp>
        <p:nvSpPr>
          <p:cNvPr id="14" name="Text 12"/>
          <p:cNvSpPr/>
          <p:nvPr/>
        </p:nvSpPr>
        <p:spPr>
          <a:xfrm>
            <a:off x="6309360" y="251460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Basil Udoudoh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09360" y="2944368"/>
            <a:ext cx="2606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5A623"/>
                </a:solidFill>
              </a:rPr>
              <a:t>Cloud/Software GTM Lead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09360" y="3273552"/>
            <a:ext cx="2606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99999"/>
                </a:solidFill>
              </a:rPr>
              <a:t>Slalom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675120" y="3749040"/>
            <a:ext cx="1828800" cy="0"/>
          </a:xfrm>
          <a:prstGeom prst="line">
            <a:avLst/>
          </a:prstGeom>
          <a:noFill/>
          <a:ln w="12700">
            <a:solidFill>
              <a:srgbClr val="3333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309360" y="384048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F5A623"/>
                </a:solidFill>
              </a:rPr>
              <a:t>linkedin.com/in/basiludoudoh</a:t>
            </a:r>
            <a:endParaRPr lang="en-US" sz="10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507DC901-CFB9-6079-D3A6-E057637D51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6446" y="1155410"/>
            <a:ext cx="1551867" cy="11639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47472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About Y'all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549640" y="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5A623"/>
                </a:solidFill>
              </a:rPr>
              <a:t>3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64748B"/>
                </a:solidFill>
              </a:rPr>
              <a:t>How many of you fall into the following categories?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01752" y="1261872"/>
            <a:ext cx="27432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01752" y="1261872"/>
            <a:ext cx="2743200" cy="12801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38912" y="1426464"/>
            <a:ext cx="384048" cy="38404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38912" y="14264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96112" y="1444752"/>
            <a:ext cx="2029968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</a:rPr>
              <a:t>What's your role?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6344" y="1993392"/>
            <a:ext cx="2414016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57784" y="1993392"/>
            <a:ext cx="22860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Software / Cloud Engineer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" y="2670048"/>
            <a:ext cx="2414016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57784" y="2670048"/>
            <a:ext cx="22860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DevOps / SRE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66344" y="3346704"/>
            <a:ext cx="2414016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57784" y="3346704"/>
            <a:ext cx="22860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Architect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66344" y="4023360"/>
            <a:ext cx="2414016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57784" y="4023360"/>
            <a:ext cx="22860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Engineering Manager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200400" y="1261872"/>
            <a:ext cx="27432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3200400" y="1261872"/>
            <a:ext cx="2743200" cy="12801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3337560" y="1426464"/>
            <a:ext cx="384048" cy="38404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3337560" y="14264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794760" y="1444752"/>
            <a:ext cx="2029968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</a:rPr>
              <a:t>How deep are you in AWS?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364992" y="1993392"/>
            <a:ext cx="2414016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456432" y="1993392"/>
            <a:ext cx="22860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Just exploring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364992" y="2670048"/>
            <a:ext cx="2414016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456432" y="2670048"/>
            <a:ext cx="22860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Building things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364992" y="3346704"/>
            <a:ext cx="2414016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456432" y="3346704"/>
            <a:ext cx="22860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Production workloads daily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3364992" y="4023360"/>
            <a:ext cx="2414016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3456432" y="4023360"/>
            <a:ext cx="22860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I basically live there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099048" y="1261872"/>
            <a:ext cx="27432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6099048" y="1261872"/>
            <a:ext cx="2743200" cy="128016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6236208" y="1426464"/>
            <a:ext cx="384048" cy="384048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6236208" y="14264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693408" y="1444752"/>
            <a:ext cx="2029968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</a:rPr>
              <a:t>Have you used Step Functions?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6263640" y="1993392"/>
            <a:ext cx="2414016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6355080" y="1993392"/>
            <a:ext cx="22860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What's that? 🤔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263640" y="2670048"/>
            <a:ext cx="2414016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6355080" y="2670048"/>
            <a:ext cx="22860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I've heard of it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263640" y="3346704"/>
            <a:ext cx="2414016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6355080" y="3346704"/>
            <a:ext cx="22860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Played around with it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6263640" y="4023360"/>
            <a:ext cx="2414016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6355080" y="4023360"/>
            <a:ext cx="22860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Yes, in prod! ✅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979408" y="0"/>
            <a:ext cx="164592" cy="51435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</a:rPr>
              <a:t>Let's get started!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457200" y="274320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dirty="0">
                <a:solidFill>
                  <a:srgbClr val="000000"/>
                </a:solidFill>
              </a:rPr>
              <a:t>⏰</a:t>
            </a:r>
            <a:endParaRPr lang="en-US" sz="4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47472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OK, so what is “AWS Step Functions”?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549640" y="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5A623"/>
                </a:solidFill>
              </a:rPr>
              <a:t>5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822960"/>
            <a:ext cx="8412480" cy="118872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65760" y="822960"/>
            <a:ext cx="128016" cy="1188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822960"/>
            <a:ext cx="8046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FFFFFF"/>
                </a:solidFill>
              </a:rPr>
              <a:t>“AWS Step Functions” is a fully managed serverless orchestration service that lets you coordinate distributed applications and microservices using visual workflows — called state machines — defined in the Amazon States Language (ASL).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402336" y="2176272"/>
            <a:ext cx="2670048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02336" y="2286000"/>
            <a:ext cx="267004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🔁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539496" y="2971800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</a:rPr>
              <a:t>Visual Workflows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66928" y="3429000"/>
            <a:ext cx="2340864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</a:rPr>
              <a:t>Define logic as a state machine in JSON/CDK and see it rendered as a live, interactive diagram in the AWS Console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36976" y="2176272"/>
            <a:ext cx="2670048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36976" y="2286000"/>
            <a:ext cx="267004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🔗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3374136" y="2971800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</a:rPr>
              <a:t>220+ Integrations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401568" y="3429000"/>
            <a:ext cx="2340864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</a:rPr>
              <a:t>Natively integrates with Lambda, ECS, DynamoDB, SQS, API GW, Bedrock, and hundreds more — no glue code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071616" y="2176272"/>
            <a:ext cx="2670048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071616" y="2286000"/>
            <a:ext cx="267004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🛡️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208776" y="2971800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</a:rPr>
              <a:t>Built-in Resilience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236208" y="3429000"/>
            <a:ext cx="2340864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</a:rPr>
              <a:t>Retry, Catch, Timeout, and heartbeat are first-class citizens — not bolted-on afterthoughts in your app code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47472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So... why not just chain some Lambdas together?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549640" y="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5A623"/>
                </a:solidFill>
              </a:rPr>
              <a:t>6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397764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74320" y="804672"/>
            <a:ext cx="3977640" cy="475488"/>
          </a:xfrm>
          <a:prstGeom prst="rect">
            <a:avLst/>
          </a:prstGeom>
          <a:solidFill>
            <a:srgbClr val="E94F37"/>
          </a:solidFill>
          <a:ln w="12700">
            <a:solidFill>
              <a:srgbClr val="E94F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74320" y="804672"/>
            <a:ext cx="3977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</a:rPr>
              <a:t>😤  DIY Orchestration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274320" y="1371600"/>
            <a:ext cx="3977640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38912" y="13716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93B"/>
                </a:solidFill>
              </a:rPr>
              <a:t>🐛  Custom retry/error logic in every function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74320" y="1865376"/>
            <a:ext cx="39776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38912" y="1865376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93B"/>
                </a:solidFill>
              </a:rPr>
              <a:t>🕵️  Zero visibility into what step failed or why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274320" y="2359152"/>
            <a:ext cx="3977640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38912" y="2359152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93B"/>
                </a:solidFill>
              </a:rPr>
              <a:t>🔥  Timeouts are entirely your problem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274320" y="2852928"/>
            <a:ext cx="39776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38912" y="2852928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93B"/>
                </a:solidFill>
              </a:rPr>
              <a:t>🤯  Parallel execution? DIY thread management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274320" y="3346704"/>
            <a:ext cx="3977640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38912" y="334670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93B"/>
                </a:solidFill>
              </a:rPr>
              <a:t>📜  Coordination logic buried in your app code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274320" y="3840480"/>
            <a:ext cx="39776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38912" y="3840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93B"/>
                </a:solidFill>
              </a:rPr>
              <a:t>💸  Paying for Lambda idle time between steps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892040" y="804672"/>
            <a:ext cx="397764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892040" y="804672"/>
            <a:ext cx="3977640" cy="47548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892040" y="804672"/>
            <a:ext cx="3977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</a:rPr>
              <a:t>✅  With Step Functions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4892040" y="1371600"/>
            <a:ext cx="3977640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056632" y="13716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93B"/>
                </a:solidFill>
              </a:rPr>
              <a:t>🔁  Built-in retry with exponential backoff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4892040" y="1865376"/>
            <a:ext cx="39776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056632" y="1865376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93B"/>
                </a:solidFill>
              </a:rPr>
              <a:t>👁️  Visual execution history in the console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892040" y="2359152"/>
            <a:ext cx="3977640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056632" y="2359152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93B"/>
                </a:solidFill>
              </a:rPr>
              <a:t>⏱️  Per-state timeouts, handled automatically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4892040" y="2852928"/>
            <a:ext cx="39776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5056632" y="2852928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93B"/>
                </a:solidFill>
              </a:rPr>
              <a:t>⚡  Parallel branches are a first-class state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4892040" y="3346704"/>
            <a:ext cx="3977640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5056632" y="334670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93B"/>
                </a:solidFill>
              </a:rPr>
              <a:t>🗺️  Workflow logic lives in the state machine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4892040" y="3840480"/>
            <a:ext cx="39776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5056632" y="3840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93B"/>
                </a:solidFill>
              </a:rPr>
              <a:t>💰  Express workflows for high-volume / low-cost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4251960" y="2377440"/>
            <a:ext cx="640080" cy="64008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4251960" y="2377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2E"/>
                </a:solidFill>
              </a:rPr>
              <a:t>vs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47472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Sounds good! How does Step Functions work?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549640" y="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5A623"/>
                </a:solidFill>
              </a:rPr>
              <a:t>7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02336" y="822960"/>
            <a:ext cx="2670048" cy="41148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444752" y="960120"/>
            <a:ext cx="585216" cy="585216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444752" y="96012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1A2E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02336" y="1664208"/>
            <a:ext cx="267004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✍️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39496" y="2359152"/>
            <a:ext cx="239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5A623"/>
                </a:solidFill>
              </a:rPr>
              <a:t>Define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39496" y="2834640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AAAAAA"/>
                </a:solidFill>
              </a:rPr>
              <a:t>Amazon States Language (ASL)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85216" y="3246120"/>
            <a:ext cx="2304288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</a:rPr>
              <a:t>Write your workflow as a JSON state machine — or use CDK/SAM to generate it from TypeScript or Python. States, transitions, retries, and error handling all live here.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072384" y="2423160"/>
            <a:ext cx="164592" cy="0"/>
          </a:xfrm>
          <a:prstGeom prst="line">
            <a:avLst/>
          </a:prstGeom>
          <a:noFill/>
          <a:ln w="31750">
            <a:solidFill>
              <a:srgbClr val="F5A623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236976" y="822960"/>
            <a:ext cx="2670048" cy="41148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279392" y="960120"/>
            <a:ext cx="585216" cy="585216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279392" y="96012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1A2E"/>
                </a:solidFill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236976" y="1664208"/>
            <a:ext cx="267004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🔀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3374136" y="2359152"/>
            <a:ext cx="239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5A623"/>
                </a:solidFill>
              </a:rPr>
              <a:t>Deploy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3374136" y="2834640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AAAAAA"/>
                </a:solidFill>
              </a:rPr>
              <a:t>State Machine in AWS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419856" y="3246120"/>
            <a:ext cx="2304288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</a:rPr>
              <a:t>The Step Functions service hosts your state machine. The console renders it visually, tracks every execution, and stores the full history of each run.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907024" y="2423160"/>
            <a:ext cx="164592" cy="0"/>
          </a:xfrm>
          <a:prstGeom prst="line">
            <a:avLst/>
          </a:prstGeom>
          <a:noFill/>
          <a:ln w="31750">
            <a:solidFill>
              <a:srgbClr val="F5A623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071616" y="822960"/>
            <a:ext cx="2670048" cy="41148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7114032" y="960120"/>
            <a:ext cx="585216" cy="585216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114032" y="96012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1A2E"/>
                </a:solidFill>
              </a:rPr>
              <a:t>3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071616" y="1664208"/>
            <a:ext cx="267004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▶️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6208776" y="2359152"/>
            <a:ext cx="239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5A623"/>
                </a:solidFill>
              </a:rPr>
              <a:t>Execute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6208776" y="2834640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AAAAAA"/>
                </a:solidFill>
              </a:rPr>
              <a:t>&amp; Observe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254496" y="3246120"/>
            <a:ext cx="2304288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</a:rPr>
              <a:t>Trigger via </a:t>
            </a:r>
            <a:r>
              <a:rPr lang="en-US" sz="1200" dirty="0" err="1">
                <a:solidFill>
                  <a:srgbClr val="FFFFFF"/>
                </a:solidFill>
              </a:rPr>
              <a:t>EventBridge</a:t>
            </a:r>
            <a:r>
              <a:rPr lang="en-US" sz="1200" dirty="0">
                <a:solidFill>
                  <a:srgbClr val="FFFFFF"/>
                </a:solidFill>
              </a:rPr>
              <a:t>, API Gateway, or SDK. Watch each state transition in real-time — with inputs, outputs, and timing for every step.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47472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Meet the States 👋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549640" y="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5A623"/>
                </a:solidFill>
              </a:rPr>
              <a:t>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01752" y="804672"/>
            <a:ext cx="2066544" cy="19385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01752" y="804672"/>
            <a:ext cx="2066544" cy="914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01752" y="932688"/>
            <a:ext cx="206654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⚙️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393192" y="1517904"/>
            <a:ext cx="18836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B82F6"/>
                </a:solidFill>
              </a:rPr>
              <a:t>Task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93192" y="1883664"/>
            <a:ext cx="1883664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Do a unit of work — invoke Lambda, call an API, run an ECS task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459736" y="804672"/>
            <a:ext cx="2066544" cy="19385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459736" y="804672"/>
            <a:ext cx="2066544" cy="914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459736" y="932688"/>
            <a:ext cx="206654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🔀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551176" y="1517904"/>
            <a:ext cx="18836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A623"/>
                </a:solidFill>
              </a:rPr>
              <a:t>Choice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551176" y="1883664"/>
            <a:ext cx="1883664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Branch logic based on input conditions (the if/else of workflows)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17720" y="804672"/>
            <a:ext cx="2066544" cy="19385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617720" y="804672"/>
            <a:ext cx="2066544" cy="914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617720" y="932688"/>
            <a:ext cx="206654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⚡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4709160" y="1517904"/>
            <a:ext cx="18836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9488"/>
                </a:solidFill>
              </a:rPr>
              <a:t>Parallel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709160" y="1883664"/>
            <a:ext cx="1883664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Run multiple branches simultaneously and wait for all to finish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775704" y="804672"/>
            <a:ext cx="2066544" cy="19385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775704" y="804672"/>
            <a:ext cx="2066544" cy="9144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775704" y="932688"/>
            <a:ext cx="206654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🗺️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6867144" y="1517904"/>
            <a:ext cx="18836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B5CF6"/>
                </a:solidFill>
              </a:rPr>
              <a:t>Map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867144" y="1883664"/>
            <a:ext cx="1883664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Iterate over an array, processing each item (optionally in parallel)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01752" y="2871216"/>
            <a:ext cx="2066544" cy="19385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301752" y="2871216"/>
            <a:ext cx="2066544" cy="9144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01752" y="2999232"/>
            <a:ext cx="206654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⏱️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393192" y="3584448"/>
            <a:ext cx="18836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4748B"/>
                </a:solidFill>
              </a:rPr>
              <a:t>Wait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93192" y="3950208"/>
            <a:ext cx="1883664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Pause execution for a duration or until a specific timestamp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459736" y="2871216"/>
            <a:ext cx="2066544" cy="19385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2459736" y="2871216"/>
            <a:ext cx="2066544" cy="9144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2459736" y="2999232"/>
            <a:ext cx="206654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📤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2551176" y="3584448"/>
            <a:ext cx="18836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97316"/>
                </a:solidFill>
              </a:rPr>
              <a:t>Pass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2551176" y="3950208"/>
            <a:ext cx="1883664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Pass input to output — optionally inject or transform data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617720" y="2871216"/>
            <a:ext cx="2066544" cy="19385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4617720" y="2871216"/>
            <a:ext cx="2066544" cy="914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617720" y="2999232"/>
            <a:ext cx="206654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✅</a:t>
            </a:r>
            <a:endParaRPr lang="en-US" sz="2400" dirty="0"/>
          </a:p>
        </p:txBody>
      </p:sp>
      <p:sp>
        <p:nvSpPr>
          <p:cNvPr id="38" name="Text 36"/>
          <p:cNvSpPr/>
          <p:nvPr/>
        </p:nvSpPr>
        <p:spPr>
          <a:xfrm>
            <a:off x="4709160" y="3584448"/>
            <a:ext cx="18836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0B981"/>
                </a:solidFill>
              </a:rPr>
              <a:t>Succeed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4709160" y="3950208"/>
            <a:ext cx="1883664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Terminate the execution successfully — you're done here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775704" y="2871216"/>
            <a:ext cx="2066544" cy="19385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6775704" y="2871216"/>
            <a:ext cx="2066544" cy="91440"/>
          </a:xfrm>
          <a:prstGeom prst="rect">
            <a:avLst/>
          </a:prstGeom>
          <a:solidFill>
            <a:srgbClr val="E94F37"/>
          </a:solidFill>
          <a:ln w="12700">
            <a:solidFill>
              <a:srgbClr val="E94F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6775704" y="2999232"/>
            <a:ext cx="206654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❌</a:t>
            </a:r>
            <a:endParaRPr lang="en-US" sz="2400" dirty="0"/>
          </a:p>
        </p:txBody>
      </p:sp>
      <p:sp>
        <p:nvSpPr>
          <p:cNvPr id="43" name="Text 41"/>
          <p:cNvSpPr/>
          <p:nvPr/>
        </p:nvSpPr>
        <p:spPr>
          <a:xfrm>
            <a:off x="6867144" y="3584448"/>
            <a:ext cx="18836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94F37"/>
                </a:solidFill>
              </a:rPr>
              <a:t>Fail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6867144" y="3950208"/>
            <a:ext cx="1883664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Terminate the execution with a named error and cause message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47472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Standard vs. Express Workflows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549640" y="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5A623"/>
                </a:solidFill>
              </a:rPr>
              <a:t>9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397764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74320" y="804672"/>
            <a:ext cx="3977640" cy="49377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74320" y="804672"/>
            <a:ext cx="3977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Standard Workflow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74320" y="1389888"/>
            <a:ext cx="3977640" cy="512064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11480" y="1389888"/>
            <a:ext cx="1691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Execution Duration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148840" y="1389888"/>
            <a:ext cx="2011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</a:rPr>
              <a:t>Up to 1 year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74320" y="1901952"/>
            <a:ext cx="39776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11480" y="1901952"/>
            <a:ext cx="1691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Execution Model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148840" y="1901952"/>
            <a:ext cx="2011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</a:rPr>
              <a:t>Exactly-once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274320" y="2414016"/>
            <a:ext cx="3977640" cy="512064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11480" y="2414016"/>
            <a:ext cx="1691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Execution Rate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148840" y="2414016"/>
            <a:ext cx="2011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</a:rPr>
              <a:t>2,000 / sec (default)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274320" y="2926080"/>
            <a:ext cx="39776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11480" y="2926080"/>
            <a:ext cx="1691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History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148840" y="2926080"/>
            <a:ext cx="2011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</a:rPr>
              <a:t>Full execution history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274320" y="3438144"/>
            <a:ext cx="3977640" cy="512064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11480" y="3438144"/>
            <a:ext cx="1691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Pricing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148840" y="3438144"/>
            <a:ext cx="2011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</a:rPr>
              <a:t>Per state transition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274320" y="3950208"/>
            <a:ext cx="39776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11480" y="3950208"/>
            <a:ext cx="1691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Best For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2148840" y="3950208"/>
            <a:ext cx="2011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</a:rPr>
              <a:t>Order processing, approval flows, long-running critical workflows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892040" y="804672"/>
            <a:ext cx="397764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4892040" y="804672"/>
            <a:ext cx="3977640" cy="4937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4892040" y="804672"/>
            <a:ext cx="3977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Express Workflow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4892040" y="1389888"/>
            <a:ext cx="3977640" cy="512064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5029200" y="1389888"/>
            <a:ext cx="1691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Execution Duration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766560" y="1389888"/>
            <a:ext cx="2011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</a:rPr>
              <a:t>Up to 5 minutes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892040" y="1901952"/>
            <a:ext cx="39776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5029200" y="1901952"/>
            <a:ext cx="1691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Execution Model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766560" y="1901952"/>
            <a:ext cx="2011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</a:rPr>
              <a:t>At-least-once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4892040" y="2414016"/>
            <a:ext cx="3977640" cy="512064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5029200" y="2414016"/>
            <a:ext cx="1691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Execution Rate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766560" y="2414016"/>
            <a:ext cx="2011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</a:rPr>
              <a:t>100,000+ / sec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4892040" y="2926080"/>
            <a:ext cx="39776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5029200" y="2926080"/>
            <a:ext cx="1691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History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766560" y="2926080"/>
            <a:ext cx="2011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</a:rPr>
              <a:t>CloudWatch Logs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4892040" y="3438144"/>
            <a:ext cx="3977640" cy="512064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5029200" y="3438144"/>
            <a:ext cx="1691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Pricing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766560" y="3438144"/>
            <a:ext cx="2011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</a:rPr>
              <a:t>Per execution + duration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4892040" y="3950208"/>
            <a:ext cx="39776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5029200" y="3950208"/>
            <a:ext cx="1691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Best For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6766560" y="3950208"/>
            <a:ext cx="2011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</a:rPr>
              <a:t>IoT pipelines, streaming, high-volume microservice orchestration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4251960" y="2487168"/>
            <a:ext cx="640080" cy="64008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4251960" y="248716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2E"/>
                </a:solidFill>
              </a:rPr>
              <a:t>vs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47472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When Things Go Wrong: Error Handling &amp; Retries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549640" y="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5A623"/>
                </a:solidFill>
              </a:rPr>
              <a:t>10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38328" y="804672"/>
            <a:ext cx="2761488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38328" y="804672"/>
            <a:ext cx="2761488" cy="128016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38328" y="950976"/>
            <a:ext cx="276148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🔁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48056" y="1572768"/>
            <a:ext cx="254203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97316"/>
                </a:solidFill>
              </a:rPr>
              <a:t>Retry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75488" y="2011680"/>
            <a:ext cx="248716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Automatically re-attempt a failing state. Configure max attempts, initial interval, backoff rate, and which error types to catch.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48056" y="2971800"/>
            <a:ext cx="2542032" cy="18288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21208" y="2971800"/>
            <a:ext cx="2395728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"Retry": [{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"ErrorEquals":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["Lambda.ServiceException"],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"IntervalSeconds": 2,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"MaxAttempts": 3,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"BackoffRate": 2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}]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191256" y="804672"/>
            <a:ext cx="2761488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191256" y="804672"/>
            <a:ext cx="2761488" cy="128016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191256" y="950976"/>
            <a:ext cx="276148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🪤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3300984" y="1572768"/>
            <a:ext cx="254203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8B5CF6"/>
                </a:solidFill>
              </a:rPr>
              <a:t>Catch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3328416" y="2011680"/>
            <a:ext cx="248716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Catch errors that exhaust retries and route to a fallback state. Think try/catch for your state machine — with full input forwarding.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300984" y="2971800"/>
            <a:ext cx="2542032" cy="18288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374136" y="2971800"/>
            <a:ext cx="2395728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"Catch": [{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"ErrorEquals":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["States.ALL"],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"Next": "HandleError",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"ResultPath": "$.error"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}]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044184" y="804672"/>
            <a:ext cx="2761488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044184" y="804672"/>
            <a:ext cx="2761488" cy="128016"/>
          </a:xfrm>
          <a:prstGeom prst="rect">
            <a:avLst/>
          </a:prstGeom>
          <a:solidFill>
            <a:srgbClr val="E94F37"/>
          </a:solidFill>
          <a:ln w="12700">
            <a:solidFill>
              <a:srgbClr val="E94F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044184" y="950976"/>
            <a:ext cx="276148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⏱️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6153912" y="1572768"/>
            <a:ext cx="254203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E94F37"/>
                </a:solidFill>
              </a:rPr>
              <a:t>Timeout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181344" y="2011680"/>
            <a:ext cx="248716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Set HeartbeatSeconds and TimeoutSeconds per state. Step Functions will fail the state automatically if limits are exceeded.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153912" y="2971800"/>
            <a:ext cx="2542032" cy="18288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227064" y="2971800"/>
            <a:ext cx="2395728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"TimeoutSeconds": 300,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"HeartbeatSeconds": 60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Per-state, not global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47472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The Callback Pattern: waitForTaskToken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549640" y="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5A623"/>
                </a:solidFill>
              </a:rPr>
              <a:t>11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5120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</a:rPr>
              <a:t>What is it?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261872"/>
            <a:ext cx="502920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</a:rPr>
              <a:t>A special Task integration mode where Step Functions pauses execution and generates a unique task token. The workflow is completely suspended — no polling, no compute cost — until an external system calls SendTaskSuccess or SendTaskFailure with that token.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2395728"/>
            <a:ext cx="5120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</a:rPr>
              <a:t>When would I use it?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65760" y="2852928"/>
            <a:ext cx="5029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93B"/>
                </a:solidFill>
              </a:rPr>
              <a:t>👤  Human approval steps (manager reviews a request)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65760" y="3328416"/>
            <a:ext cx="5029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93B"/>
                </a:solidFill>
              </a:rPr>
              <a:t>📧  Waiting for email or SMS confirmation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65760" y="3803904"/>
            <a:ext cx="5029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93B"/>
                </a:solidFill>
              </a:rPr>
              <a:t>🤝  Integrating with external async systems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65760" y="4279392"/>
            <a:ext cx="5029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93B"/>
                </a:solidFill>
              </a:rPr>
              <a:t>🧍  Literally waiting for a human to get out of bed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0" y="822960"/>
            <a:ext cx="3246120" cy="56692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742432" y="822960"/>
            <a:ext cx="3108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</a:rPr>
              <a:t>State Machine Starts Task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292340" y="1389888"/>
            <a:ext cx="0" cy="128016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5669280" y="1517904"/>
            <a:ext cx="3246120" cy="566928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742432" y="1517904"/>
            <a:ext cx="3108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</a:rPr>
              <a:t>Task Token Generated &amp; Sent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292340" y="2084832"/>
            <a:ext cx="0" cy="128016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669280" y="2212848"/>
            <a:ext cx="3246120" cy="56692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742432" y="2212848"/>
            <a:ext cx="3108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</a:rPr>
              <a:t>⏸️  Execution PAUSED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7292340" y="2779776"/>
            <a:ext cx="0" cy="128016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5669280" y="2907792"/>
            <a:ext cx="3246120" cy="56692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742432" y="2907792"/>
            <a:ext cx="3108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</a:rPr>
              <a:t>External System Completes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292340" y="3474720"/>
            <a:ext cx="0" cy="128016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5669280" y="3602736"/>
            <a:ext cx="3246120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742432" y="3602736"/>
            <a:ext cx="3108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</a:rPr>
              <a:t>SendTaskSuccess(token)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7292340" y="4169664"/>
            <a:ext cx="0" cy="128016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5669280" y="4297680"/>
            <a:ext cx="3246120" cy="56692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742432" y="4297680"/>
            <a:ext cx="3108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</a:rPr>
              <a:t>▶️  Execution RESUMES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979408" y="0"/>
            <a:ext cx="164592" cy="51435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000" b="1" dirty="0">
                <a:solidFill>
                  <a:srgbClr val="FFFFFF"/>
                </a:solidFill>
              </a:rPr>
              <a:t>Let's Build Something!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457200" y="274320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dirty="0">
                <a:solidFill>
                  <a:srgbClr val="000000"/>
                </a:solidFill>
              </a:rPr>
              <a:t>🏗️</a:t>
            </a:r>
            <a:endParaRPr lang="en-US" sz="4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i="1" dirty="0">
                <a:solidFill>
                  <a:srgbClr val="888888"/>
                </a:solidFill>
              </a:rPr>
              <a:t>Introducing...</a:t>
            </a:r>
            <a:endParaRPr lang="en-US" sz="1700" dirty="0"/>
          </a:p>
        </p:txBody>
      </p:sp>
      <p:sp>
        <p:nvSpPr>
          <p:cNvPr id="3" name="Shape 1"/>
          <p:cNvSpPr/>
          <p:nvPr/>
        </p:nvSpPr>
        <p:spPr>
          <a:xfrm>
            <a:off x="1188720" y="758952"/>
            <a:ext cx="1051560" cy="86868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88720" y="758952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500" b="1" dirty="0">
                <a:solidFill>
                  <a:srgbClr val="1A1A2E"/>
                </a:solidFill>
              </a:rPr>
              <a:t>S</a:t>
            </a:r>
            <a:endParaRPr lang="en-US" sz="5500" dirty="0"/>
          </a:p>
        </p:txBody>
      </p:sp>
      <p:sp>
        <p:nvSpPr>
          <p:cNvPr id="5" name="Text 3"/>
          <p:cNvSpPr/>
          <p:nvPr/>
        </p:nvSpPr>
        <p:spPr>
          <a:xfrm>
            <a:off x="2331720" y="822960"/>
            <a:ext cx="548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555577"/>
                </a:solidFill>
              </a:rPr>
              <a:t>—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971800" y="786384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</a:rPr>
              <a:t>Snooze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1188720" y="1783080"/>
            <a:ext cx="1051560" cy="86868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188720" y="1783080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500" b="1" dirty="0">
                <a:solidFill>
                  <a:srgbClr val="1A1A2E"/>
                </a:solidFill>
              </a:rPr>
              <a:t>T</a:t>
            </a:r>
            <a:endParaRPr lang="en-US" sz="5500" dirty="0"/>
          </a:p>
        </p:txBody>
      </p:sp>
      <p:sp>
        <p:nvSpPr>
          <p:cNvPr id="9" name="Text 7"/>
          <p:cNvSpPr/>
          <p:nvPr/>
        </p:nvSpPr>
        <p:spPr>
          <a:xfrm>
            <a:off x="2331720" y="1847088"/>
            <a:ext cx="548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555577"/>
                </a:solidFill>
              </a:rPr>
              <a:t>—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2971800" y="1810512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</a:rPr>
              <a:t>Time</a:t>
            </a:r>
            <a:endParaRPr lang="en-US" sz="4000" dirty="0"/>
          </a:p>
        </p:txBody>
      </p:sp>
      <p:sp>
        <p:nvSpPr>
          <p:cNvPr id="11" name="Shape 9"/>
          <p:cNvSpPr/>
          <p:nvPr/>
        </p:nvSpPr>
        <p:spPr>
          <a:xfrm>
            <a:off x="1188720" y="2807208"/>
            <a:ext cx="1051560" cy="86868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188720" y="280720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500" b="1" dirty="0">
                <a:solidFill>
                  <a:srgbClr val="1A1A2E"/>
                </a:solidFill>
              </a:rPr>
              <a:t>E</a:t>
            </a:r>
            <a:endParaRPr lang="en-US" sz="5500" dirty="0"/>
          </a:p>
        </p:txBody>
      </p:sp>
      <p:sp>
        <p:nvSpPr>
          <p:cNvPr id="13" name="Text 11"/>
          <p:cNvSpPr/>
          <p:nvPr/>
        </p:nvSpPr>
        <p:spPr>
          <a:xfrm>
            <a:off x="2331720" y="2871216"/>
            <a:ext cx="548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555577"/>
                </a:solidFill>
              </a:rPr>
              <a:t>—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2971800" y="283464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</a:rPr>
              <a:t>Extension</a:t>
            </a:r>
            <a:endParaRPr lang="en-US" sz="4000" dirty="0"/>
          </a:p>
        </p:txBody>
      </p:sp>
      <p:sp>
        <p:nvSpPr>
          <p:cNvPr id="15" name="Shape 13"/>
          <p:cNvSpPr/>
          <p:nvPr/>
        </p:nvSpPr>
        <p:spPr>
          <a:xfrm>
            <a:off x="1188720" y="3831336"/>
            <a:ext cx="1051560" cy="86868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188720" y="3831336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500" b="1" dirty="0">
                <a:solidFill>
                  <a:srgbClr val="1A1A2E"/>
                </a:solidFill>
              </a:rPr>
              <a:t>P</a:t>
            </a:r>
            <a:endParaRPr lang="en-US" sz="5500" dirty="0"/>
          </a:p>
        </p:txBody>
      </p:sp>
      <p:sp>
        <p:nvSpPr>
          <p:cNvPr id="17" name="Text 15"/>
          <p:cNvSpPr/>
          <p:nvPr/>
        </p:nvSpPr>
        <p:spPr>
          <a:xfrm>
            <a:off x="2331720" y="3895344"/>
            <a:ext cx="548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555577"/>
                </a:solidFill>
              </a:rPr>
              <a:t>—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2971800" y="3858768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</a:rPr>
              <a:t>Protocol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457200" y="475488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888888"/>
                </a:solidFill>
              </a:rPr>
              <a:t>An enterprise-grade solution to a Monday morning problem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47472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S.T.E.P. Architecture: The Full Workflow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549640" y="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5A623"/>
                </a:solidFill>
              </a:rPr>
              <a:t>14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64592" y="749808"/>
            <a:ext cx="4956048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64592" y="749808"/>
            <a:ext cx="109728" cy="40233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10896" y="749808"/>
            <a:ext cx="34747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B82F6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94944" y="749808"/>
            <a:ext cx="3200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⏰  ALARM FIRES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005072" y="813816"/>
            <a:ext cx="1005840" cy="2743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005072" y="81381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Task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02336" y="1152144"/>
            <a:ext cx="0" cy="82296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164592" y="1234440"/>
            <a:ext cx="4956048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164592" y="1234440"/>
            <a:ext cx="109728" cy="40233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10896" y="1234440"/>
            <a:ext cx="34747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9488"/>
                </a:solidFill>
              </a:rPr>
              <a:t>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94944" y="1234440"/>
            <a:ext cx="3200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⚡  PARALLEL ASSESSMENT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005072" y="1298448"/>
            <a:ext cx="1005840" cy="2743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005072" y="129844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Parallel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02336" y="1636776"/>
            <a:ext cx="0" cy="82296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64592" y="1719072"/>
            <a:ext cx="4956048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64592" y="1719072"/>
            <a:ext cx="109728" cy="402336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10896" y="1719072"/>
            <a:ext cx="34747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A623"/>
                </a:solidFill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94944" y="1719072"/>
            <a:ext cx="3200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🔀  IS IT WEEKEND?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005072" y="1783080"/>
            <a:ext cx="1005840" cy="2743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00507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Choice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02336" y="2121408"/>
            <a:ext cx="0" cy="82296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164592" y="2203704"/>
            <a:ext cx="4956048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164592" y="2203704"/>
            <a:ext cx="109728" cy="402336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310896" y="2203704"/>
            <a:ext cx="34747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B5CF6"/>
                </a:solidFill>
              </a:rPr>
              <a:t>4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94944" y="2203704"/>
            <a:ext cx="3200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📋  MAP: EVALUATE EXCUSES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005072" y="2267712"/>
            <a:ext cx="1005840" cy="27432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005072" y="226771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Map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02336" y="2606040"/>
            <a:ext cx="0" cy="82296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164592" y="2688336"/>
            <a:ext cx="4956048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164592" y="2688336"/>
            <a:ext cx="109728" cy="40233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310896" y="2688336"/>
            <a:ext cx="34747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B82F6"/>
                </a:solidFill>
              </a:rPr>
              <a:t>5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94944" y="2688336"/>
            <a:ext cx="3200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🧮  CALCULATE SNOOZE WINDOW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005072" y="2752344"/>
            <a:ext cx="1005840" cy="2743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4005072" y="275234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Task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02336" y="3090672"/>
            <a:ext cx="0" cy="82296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164592" y="3172968"/>
            <a:ext cx="4956048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164592" y="3172968"/>
            <a:ext cx="109728" cy="402336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310896" y="3172968"/>
            <a:ext cx="34747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4748B"/>
                </a:solidFill>
              </a:rPr>
              <a:t>6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94944" y="3172968"/>
            <a:ext cx="3200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😴  EXECUTE SNOOZE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005072" y="3236976"/>
            <a:ext cx="1005840" cy="27432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4005072" y="323697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Wait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402336" y="3575304"/>
            <a:ext cx="0" cy="82296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164592" y="3657600"/>
            <a:ext cx="4956048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164592" y="3657600"/>
            <a:ext cx="109728" cy="402336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310896" y="3657600"/>
            <a:ext cx="34747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97316"/>
                </a:solidFill>
              </a:rPr>
              <a:t>7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694944" y="3657600"/>
            <a:ext cx="3200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🔁  WAKE UP CHECK (retry ×3)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005072" y="3721608"/>
            <a:ext cx="1005840" cy="27432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4005072" y="372160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Retry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402336" y="4059936"/>
            <a:ext cx="0" cy="82296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164592" y="4142232"/>
            <a:ext cx="4956048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Shape 53"/>
          <p:cNvSpPr/>
          <p:nvPr/>
        </p:nvSpPr>
        <p:spPr>
          <a:xfrm>
            <a:off x="164592" y="4142232"/>
            <a:ext cx="109728" cy="402336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310896" y="4142232"/>
            <a:ext cx="34747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366F1"/>
                </a:solidFill>
              </a:rPr>
              <a:t>8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694944" y="4142232"/>
            <a:ext cx="3200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📞  AWAIT CONFIRMATION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4005072" y="4206240"/>
            <a:ext cx="1005840" cy="27432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4005072" y="42062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Callback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164592" y="4681728"/>
            <a:ext cx="2331720" cy="43891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164592" y="4681728"/>
            <a:ext cx="2331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☕  SUCCEED: You made it!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2788920" y="4681728"/>
            <a:ext cx="2331720" cy="438912"/>
          </a:xfrm>
          <a:prstGeom prst="rect">
            <a:avLst/>
          </a:prstGeom>
          <a:solidFill>
            <a:srgbClr val="E94F37"/>
          </a:solidFill>
          <a:ln w="12700">
            <a:solidFill>
              <a:srgbClr val="E94F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2788920" y="4681728"/>
            <a:ext cx="2331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🚨  FAIL: You're late.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5376672" y="749808"/>
            <a:ext cx="3584448" cy="43434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5376672" y="749808"/>
            <a:ext cx="3584448" cy="10972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64"/>
          <p:cNvSpPr/>
          <p:nvPr/>
        </p:nvSpPr>
        <p:spPr>
          <a:xfrm>
            <a:off x="5468112" y="859536"/>
            <a:ext cx="340156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State Types</a:t>
            </a:r>
            <a:endParaRPr lang="en-US" sz="1400" dirty="0"/>
          </a:p>
        </p:txBody>
      </p:sp>
      <p:sp>
        <p:nvSpPr>
          <p:cNvPr id="67" name="Shape 65"/>
          <p:cNvSpPr/>
          <p:nvPr/>
        </p:nvSpPr>
        <p:spPr>
          <a:xfrm>
            <a:off x="5486400" y="1335024"/>
            <a:ext cx="329184" cy="329184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Text 66"/>
          <p:cNvSpPr/>
          <p:nvPr/>
        </p:nvSpPr>
        <p:spPr>
          <a:xfrm>
            <a:off x="5897880" y="1335024"/>
            <a:ext cx="1417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Task</a:t>
            </a:r>
            <a:endParaRPr lang="en-US" sz="1200" dirty="0"/>
          </a:p>
        </p:txBody>
      </p:sp>
      <p:sp>
        <p:nvSpPr>
          <p:cNvPr id="69" name="Text 67"/>
          <p:cNvSpPr/>
          <p:nvPr/>
        </p:nvSpPr>
        <p:spPr>
          <a:xfrm>
            <a:off x="7242048" y="1335024"/>
            <a:ext cx="1600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AAAAA"/>
                </a:solidFill>
              </a:rPr>
              <a:t>Invoke a service</a:t>
            </a:r>
            <a:endParaRPr lang="en-US" sz="1050" dirty="0"/>
          </a:p>
        </p:txBody>
      </p:sp>
      <p:sp>
        <p:nvSpPr>
          <p:cNvPr id="70" name="Shape 68"/>
          <p:cNvSpPr/>
          <p:nvPr/>
        </p:nvSpPr>
        <p:spPr>
          <a:xfrm>
            <a:off x="5486400" y="1810512"/>
            <a:ext cx="329184" cy="32918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Text 69"/>
          <p:cNvSpPr/>
          <p:nvPr/>
        </p:nvSpPr>
        <p:spPr>
          <a:xfrm>
            <a:off x="5897880" y="1810512"/>
            <a:ext cx="1417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Parallel</a:t>
            </a:r>
            <a:endParaRPr lang="en-US" sz="1200" dirty="0"/>
          </a:p>
        </p:txBody>
      </p:sp>
      <p:sp>
        <p:nvSpPr>
          <p:cNvPr id="72" name="Text 70"/>
          <p:cNvSpPr/>
          <p:nvPr/>
        </p:nvSpPr>
        <p:spPr>
          <a:xfrm>
            <a:off x="7242048" y="1810512"/>
            <a:ext cx="1600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AAAAA"/>
                </a:solidFill>
              </a:rPr>
              <a:t>Run branches concurrently</a:t>
            </a:r>
            <a:endParaRPr lang="en-US" sz="1050" dirty="0"/>
          </a:p>
        </p:txBody>
      </p:sp>
      <p:sp>
        <p:nvSpPr>
          <p:cNvPr id="73" name="Shape 71"/>
          <p:cNvSpPr/>
          <p:nvPr/>
        </p:nvSpPr>
        <p:spPr>
          <a:xfrm>
            <a:off x="5486400" y="2286000"/>
            <a:ext cx="329184" cy="32918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Text 72"/>
          <p:cNvSpPr/>
          <p:nvPr/>
        </p:nvSpPr>
        <p:spPr>
          <a:xfrm>
            <a:off x="5897880" y="2286000"/>
            <a:ext cx="1417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Choice</a:t>
            </a:r>
            <a:endParaRPr lang="en-US" sz="1200" dirty="0"/>
          </a:p>
        </p:txBody>
      </p:sp>
      <p:sp>
        <p:nvSpPr>
          <p:cNvPr id="75" name="Text 73"/>
          <p:cNvSpPr/>
          <p:nvPr/>
        </p:nvSpPr>
        <p:spPr>
          <a:xfrm>
            <a:off x="7242048" y="2286000"/>
            <a:ext cx="1600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AAAAA"/>
                </a:solidFill>
              </a:rPr>
              <a:t>Branch on condition</a:t>
            </a:r>
            <a:endParaRPr lang="en-US" sz="1050" dirty="0"/>
          </a:p>
        </p:txBody>
      </p:sp>
      <p:sp>
        <p:nvSpPr>
          <p:cNvPr id="76" name="Shape 74"/>
          <p:cNvSpPr/>
          <p:nvPr/>
        </p:nvSpPr>
        <p:spPr>
          <a:xfrm>
            <a:off x="5486400" y="2761488"/>
            <a:ext cx="329184" cy="329184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Text 75"/>
          <p:cNvSpPr/>
          <p:nvPr/>
        </p:nvSpPr>
        <p:spPr>
          <a:xfrm>
            <a:off x="5897880" y="2761488"/>
            <a:ext cx="1417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Map</a:t>
            </a:r>
            <a:endParaRPr lang="en-US" sz="1200" dirty="0"/>
          </a:p>
        </p:txBody>
      </p:sp>
      <p:sp>
        <p:nvSpPr>
          <p:cNvPr id="78" name="Text 76"/>
          <p:cNvSpPr/>
          <p:nvPr/>
        </p:nvSpPr>
        <p:spPr>
          <a:xfrm>
            <a:off x="7242048" y="2761488"/>
            <a:ext cx="1600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AAAAA"/>
                </a:solidFill>
              </a:rPr>
              <a:t>Iterate over array</a:t>
            </a:r>
            <a:endParaRPr lang="en-US" sz="1050" dirty="0"/>
          </a:p>
        </p:txBody>
      </p:sp>
      <p:sp>
        <p:nvSpPr>
          <p:cNvPr id="79" name="Shape 77"/>
          <p:cNvSpPr/>
          <p:nvPr/>
        </p:nvSpPr>
        <p:spPr>
          <a:xfrm>
            <a:off x="5486400" y="3236976"/>
            <a:ext cx="329184" cy="329184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0" name="Text 78"/>
          <p:cNvSpPr/>
          <p:nvPr/>
        </p:nvSpPr>
        <p:spPr>
          <a:xfrm>
            <a:off x="5897880" y="3236976"/>
            <a:ext cx="1417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Wait</a:t>
            </a:r>
            <a:endParaRPr lang="en-US" sz="1200" dirty="0"/>
          </a:p>
        </p:txBody>
      </p:sp>
      <p:sp>
        <p:nvSpPr>
          <p:cNvPr id="81" name="Text 79"/>
          <p:cNvSpPr/>
          <p:nvPr/>
        </p:nvSpPr>
        <p:spPr>
          <a:xfrm>
            <a:off x="7242048" y="3236976"/>
            <a:ext cx="1600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AAAAA"/>
                </a:solidFill>
              </a:rPr>
              <a:t>Pause execution</a:t>
            </a:r>
            <a:endParaRPr lang="en-US" sz="1050" dirty="0"/>
          </a:p>
        </p:txBody>
      </p:sp>
      <p:sp>
        <p:nvSpPr>
          <p:cNvPr id="82" name="Shape 80"/>
          <p:cNvSpPr/>
          <p:nvPr/>
        </p:nvSpPr>
        <p:spPr>
          <a:xfrm>
            <a:off x="5486400" y="3712464"/>
            <a:ext cx="329184" cy="329184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Text 81"/>
          <p:cNvSpPr/>
          <p:nvPr/>
        </p:nvSpPr>
        <p:spPr>
          <a:xfrm>
            <a:off x="5897880" y="3712464"/>
            <a:ext cx="1417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Retry</a:t>
            </a:r>
            <a:endParaRPr lang="en-US" sz="1200" dirty="0"/>
          </a:p>
        </p:txBody>
      </p:sp>
      <p:sp>
        <p:nvSpPr>
          <p:cNvPr id="84" name="Text 82"/>
          <p:cNvSpPr/>
          <p:nvPr/>
        </p:nvSpPr>
        <p:spPr>
          <a:xfrm>
            <a:off x="7242048" y="3712464"/>
            <a:ext cx="1600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AAAAA"/>
                </a:solidFill>
              </a:rPr>
              <a:t>Auto-retry on failure</a:t>
            </a:r>
            <a:endParaRPr lang="en-US" sz="1050" dirty="0"/>
          </a:p>
        </p:txBody>
      </p:sp>
      <p:sp>
        <p:nvSpPr>
          <p:cNvPr id="85" name="Shape 83"/>
          <p:cNvSpPr/>
          <p:nvPr/>
        </p:nvSpPr>
        <p:spPr>
          <a:xfrm>
            <a:off x="5486400" y="4187952"/>
            <a:ext cx="329184" cy="32918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Text 84"/>
          <p:cNvSpPr/>
          <p:nvPr/>
        </p:nvSpPr>
        <p:spPr>
          <a:xfrm>
            <a:off x="5897880" y="4187952"/>
            <a:ext cx="1417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Callback</a:t>
            </a:r>
            <a:endParaRPr lang="en-US" sz="1200" dirty="0"/>
          </a:p>
        </p:txBody>
      </p:sp>
      <p:sp>
        <p:nvSpPr>
          <p:cNvPr id="87" name="Text 85"/>
          <p:cNvSpPr/>
          <p:nvPr/>
        </p:nvSpPr>
        <p:spPr>
          <a:xfrm>
            <a:off x="7242048" y="4187952"/>
            <a:ext cx="1600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AAAAA"/>
                </a:solidFill>
              </a:rPr>
              <a:t>Wait for external signal</a:t>
            </a:r>
            <a:endParaRPr lang="en-US" sz="1050" dirty="0"/>
          </a:p>
        </p:txBody>
      </p:sp>
      <p:sp>
        <p:nvSpPr>
          <p:cNvPr id="88" name="Shape 86"/>
          <p:cNvSpPr/>
          <p:nvPr/>
        </p:nvSpPr>
        <p:spPr>
          <a:xfrm>
            <a:off x="5468112" y="4681728"/>
            <a:ext cx="3401568" cy="32918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9" name="Text 87"/>
          <p:cNvSpPr/>
          <p:nvPr/>
        </p:nvSpPr>
        <p:spPr>
          <a:xfrm>
            <a:off x="5468112" y="4681728"/>
            <a:ext cx="3401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</a:rPr>
              <a:t>🎉  Step 3: Weekend = YES → instant Succeed (sleep in!)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979408" y="0"/>
            <a:ext cx="164592" cy="51435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</a:rPr>
              <a:t>Let's look at the code!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457200" y="274320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dirty="0">
                <a:solidFill>
                  <a:srgbClr val="000000"/>
                </a:solidFill>
              </a:rPr>
              <a:t>💻</a:t>
            </a:r>
            <a:endParaRPr lang="en-US" sz="4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47472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S.T.E.P. — What the Demo Covers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549640" y="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5A623"/>
                </a:solidFill>
              </a:rPr>
              <a:t>16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19456" y="804672"/>
            <a:ext cx="4224528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19456" y="804672"/>
            <a:ext cx="91440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02336" y="804672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3B82F6"/>
                </a:solidFill>
              </a:rPr>
              <a:t>⚙️  Task States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185416" y="896112"/>
            <a:ext cx="0" cy="36576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304288" y="804672"/>
            <a:ext cx="20482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Lambda invocations for alarm check, snooze calculation, and wake-up verification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00016" y="804672"/>
            <a:ext cx="4224528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700016" y="804672"/>
            <a:ext cx="91440" cy="5486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882896" y="804672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D9488"/>
                </a:solidFill>
              </a:rPr>
              <a:t>⚡  Parallel State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665976" y="896112"/>
            <a:ext cx="0" cy="36576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784848" y="804672"/>
            <a:ext cx="20482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Simultaneous calendar check, weather/hair complexity rating, and weekend detection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19456" y="1444752"/>
            <a:ext cx="4224528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219456" y="1444752"/>
            <a:ext cx="91440" cy="5486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02336" y="1444752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5A623"/>
                </a:solidFill>
              </a:rPr>
              <a:t>🔀  Choice State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2185416" y="1536192"/>
            <a:ext cx="0" cy="36576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2304288" y="1444752"/>
            <a:ext cx="20482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Is it a weekend? Instant Succeed. Otherwise, the gauntlet continues.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00016" y="1444752"/>
            <a:ext cx="4224528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700016" y="1444752"/>
            <a:ext cx="91440" cy="54864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882896" y="1444752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8B5CF6"/>
                </a:solidFill>
              </a:rPr>
              <a:t>🗺️  Map State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665976" y="1536192"/>
            <a:ext cx="0" cy="36576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784848" y="1444752"/>
            <a:ext cx="20482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Iterates over the excuse inventory array, scoring each excuse's viability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19456" y="2084832"/>
            <a:ext cx="4224528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219456" y="2084832"/>
            <a:ext cx="91440" cy="54864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02336" y="2084832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64748B"/>
                </a:solidFill>
              </a:rPr>
              <a:t>⏱️  Wait State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2185416" y="2176272"/>
            <a:ext cx="0" cy="36576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2304288" y="2084832"/>
            <a:ext cx="20482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The literal snooze — execution is paused for the calculated snooze duration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700016" y="2084832"/>
            <a:ext cx="4224528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4700016" y="2084832"/>
            <a:ext cx="91440" cy="54864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882896" y="2084832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97316"/>
                </a:solidFill>
              </a:rPr>
              <a:t>🔁  Retry + Backoff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665976" y="2176272"/>
            <a:ext cx="0" cy="36576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6784848" y="2084832"/>
            <a:ext cx="20482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Wake-up check retries 3× with exponential backoff (each snooze gets longer)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219456" y="2724912"/>
            <a:ext cx="4224528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219456" y="2724912"/>
            <a:ext cx="91440" cy="54864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02336" y="2724912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6366F1"/>
                </a:solidFill>
              </a:rPr>
              <a:t>📞  Callback (waitForTaskToken)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2185416" y="2816352"/>
            <a:ext cx="0" cy="36576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2304288" y="2724912"/>
            <a:ext cx="20482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Workflow pauses until an external signal confirms the human is vertical and conscious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700016" y="2724912"/>
            <a:ext cx="4224528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4700016" y="2724912"/>
            <a:ext cx="91440" cy="54864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4882896" y="2724912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1A2E"/>
                </a:solidFill>
              </a:rPr>
              <a:t>🏗️  CDK Deployment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6665976" y="2816352"/>
            <a:ext cx="0" cy="36576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6784848" y="2724912"/>
            <a:ext cx="20482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Full TypeScript CDK stack — State Machine, Lambdas, IAM roles, all in one cdk deploy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47472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Key Takeaways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549640" y="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5A623"/>
                </a:solidFill>
              </a:rPr>
              <a:t>17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74320" y="969264"/>
            <a:ext cx="512064" cy="512064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96926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2E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32688" y="841248"/>
            <a:ext cx="80010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</a:rPr>
              <a:t>🔀  Step Functions transforms coordination code into a visual, auditable state machine — your business logic lives in the workflow, not scattered across Lambda functions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74320" y="1792224"/>
            <a:ext cx="512064" cy="512064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74320" y="179222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2E"/>
                </a:solidFill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32688" y="1664208"/>
            <a:ext cx="80010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</a:rPr>
              <a:t>🛡️  Retry, Catch, Timeout, and heartbeat are first-class citizens — you get enterprise-grade resilience without writing a single try/catch in your application code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74320" y="2615184"/>
            <a:ext cx="512064" cy="512064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74320" y="261518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2E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32688" y="2487168"/>
            <a:ext cx="80010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</a:rPr>
              <a:t>⚡  Parallel, Map, and Choice states make complex orchestration trivial — parallel execution, array iteration, and conditional branching all out of the box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74320" y="3438144"/>
            <a:ext cx="512064" cy="512064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74320" y="343814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2E"/>
                </a:solidFill>
              </a:rPr>
              <a:t>4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32688" y="3310128"/>
            <a:ext cx="80010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</a:rPr>
              <a:t>📞  The waitForTaskToken callback pattern unlocks powerful async integrations — pause for human approval, external systems, or (apparently) humans getting out of bed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74320" y="4261104"/>
            <a:ext cx="512064" cy="512064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274320" y="426110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2E"/>
                </a:solidFill>
              </a:rPr>
              <a:t>5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32688" y="4133088"/>
            <a:ext cx="80010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</a:rPr>
              <a:t>🏗️  CDK + Step Functions is a killer combo — define your workflow, Lambdas, and IAM in TypeScript and ship the whole thing with one cdk deploy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47472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Step Functions Learning Resources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549640" y="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5A623"/>
                </a:solidFill>
              </a:rPr>
              <a:t>18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841248"/>
            <a:ext cx="69494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65760" y="841248"/>
            <a:ext cx="109728" cy="60350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66928" y="841248"/>
            <a:ext cx="42062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</a:rPr>
              <a:t>📖  AWS Step Functions Developer Guide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828032" y="841248"/>
            <a:ext cx="24231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3B82F6"/>
                </a:solidFill>
                <a:hlinkClick r:id="rId3"/>
              </a:rPr>
              <a:t>docs.aws.amazon.com/step-functions/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5760" y="1591056"/>
            <a:ext cx="69494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65760" y="1591056"/>
            <a:ext cx="109728" cy="60350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66928" y="1591056"/>
            <a:ext cx="42062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</a:rPr>
              <a:t>🔨  AWS CDK Step Functions Constructs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28032" y="1591056"/>
            <a:ext cx="24231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3B82F6"/>
                </a:solidFill>
                <a:hlinkClick r:id="rId4"/>
              </a:rPr>
              <a:t>docs.aws.amazon.com/cdk/api/v2/docs/aws-cdk-lib.aws_stepfunctions-readme.html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5760" y="2340864"/>
            <a:ext cx="69494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65760" y="2340864"/>
            <a:ext cx="109728" cy="60350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66928" y="2340864"/>
            <a:ext cx="42062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</a:rPr>
              <a:t>🗺️  Amazon States Language Specification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28032" y="2340864"/>
            <a:ext cx="24231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3B82F6"/>
                </a:solidFill>
                <a:hlinkClick r:id="rId5"/>
              </a:rPr>
              <a:t>states-language.net/spec.html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3090672"/>
            <a:ext cx="69494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65760" y="3090672"/>
            <a:ext cx="109728" cy="60350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66928" y="3090672"/>
            <a:ext cx="42062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</a:rPr>
              <a:t>🧪  Step Functions Workshop (AWS)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828032" y="3090672"/>
            <a:ext cx="24231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3B82F6"/>
                </a:solidFill>
                <a:hlinkClick r:id="rId6"/>
              </a:rPr>
              <a:t>catalog.workshops.aws/stepfunctions/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3840480"/>
            <a:ext cx="69494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365760" y="3840480"/>
            <a:ext cx="109728" cy="60350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66928" y="3840480"/>
            <a:ext cx="42062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</a:rPr>
              <a:t>💻  S.T.E.P. Demo Repo (this talk)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828032" y="3840480"/>
            <a:ext cx="24231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3B82F6"/>
                </a:solidFill>
                <a:hlinkClick r:id="rId7"/>
              </a:rPr>
              <a:t>github.com/budoudoh/aws-step-function-demo</a:t>
            </a:r>
            <a:endParaRPr lang="en-US" sz="1000" i="1" dirty="0">
              <a:solidFill>
                <a:srgbClr val="3B82F6"/>
              </a:solidFill>
            </a:endParaRPr>
          </a:p>
        </p:txBody>
      </p:sp>
      <p:sp>
        <p:nvSpPr>
          <p:cNvPr id="27" name="Text 25"/>
          <p:cNvSpPr/>
          <p:nvPr/>
        </p:nvSpPr>
        <p:spPr>
          <a:xfrm>
            <a:off x="7498080" y="2240280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</a:rPr>
              <a:t>Demo Repo →</a:t>
            </a:r>
            <a:endParaRPr lang="en-US" sz="1000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5ADD3EDF-CABF-5A77-35C8-D94E0A776F02}"/>
              </a:ext>
            </a:extLst>
          </p:cNvPr>
          <p:cNvPicPr>
            <a:picLocks/>
          </p:cNvPicPr>
          <p:nvPr/>
        </p:nvPicPr>
        <p:blipFill>
          <a:blip r:embed="rId8"/>
          <a:stretch>
            <a:fillRect/>
          </a:stretch>
        </p:blipFill>
        <p:spPr>
          <a:xfrm>
            <a:off x="7632700" y="838200"/>
            <a:ext cx="1320800" cy="132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18279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979408" y="0"/>
            <a:ext cx="164592" cy="51435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8229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FFFFFF"/>
                </a:solidFill>
              </a:rPr>
              <a:t>Thank you!</a:t>
            </a:r>
            <a:endParaRPr lang="en-US" sz="5600" dirty="0"/>
          </a:p>
        </p:txBody>
      </p:sp>
      <p:sp>
        <p:nvSpPr>
          <p:cNvPr id="5" name="Shape 3"/>
          <p:cNvSpPr/>
          <p:nvPr/>
        </p:nvSpPr>
        <p:spPr>
          <a:xfrm>
            <a:off x="1371600" y="1920240"/>
            <a:ext cx="1463040" cy="1417320"/>
          </a:xfrm>
          <a:prstGeom prst="rect">
            <a:avLst/>
          </a:prstGeom>
          <a:solidFill>
            <a:srgbClr val="2A2A4A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371600" y="192024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5A623"/>
                </a:solidFill>
              </a:rPr>
              <a:t>S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1371600" y="2743200"/>
            <a:ext cx="1463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Snooze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017520" y="1920240"/>
            <a:ext cx="1463040" cy="1417320"/>
          </a:xfrm>
          <a:prstGeom prst="rect">
            <a:avLst/>
          </a:prstGeom>
          <a:solidFill>
            <a:srgbClr val="2A2A4A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017520" y="192024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5A623"/>
                </a:solidFill>
              </a:rPr>
              <a:t>T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3017520" y="2743200"/>
            <a:ext cx="1463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Time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1920240"/>
            <a:ext cx="1463040" cy="1417320"/>
          </a:xfrm>
          <a:prstGeom prst="rect">
            <a:avLst/>
          </a:prstGeom>
          <a:solidFill>
            <a:srgbClr val="2A2A4A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663440" y="192024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5A623"/>
                </a:solidFill>
              </a:rPr>
              <a:t>E</a:t>
            </a:r>
            <a:endParaRPr lang="en-US" sz="4200" dirty="0"/>
          </a:p>
        </p:txBody>
      </p:sp>
      <p:sp>
        <p:nvSpPr>
          <p:cNvPr id="13" name="Text 11"/>
          <p:cNvSpPr/>
          <p:nvPr/>
        </p:nvSpPr>
        <p:spPr>
          <a:xfrm>
            <a:off x="4663440" y="2743200"/>
            <a:ext cx="1463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Extension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309360" y="1920240"/>
            <a:ext cx="1463040" cy="1417320"/>
          </a:xfrm>
          <a:prstGeom prst="rect">
            <a:avLst/>
          </a:prstGeom>
          <a:solidFill>
            <a:srgbClr val="2A2A4A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309360" y="192024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5A623"/>
                </a:solidFill>
              </a:rPr>
              <a:t>P</a:t>
            </a:r>
            <a:endParaRPr lang="en-US" sz="4200" dirty="0"/>
          </a:p>
        </p:txBody>
      </p:sp>
      <p:sp>
        <p:nvSpPr>
          <p:cNvPr id="16" name="Text 14"/>
          <p:cNvSpPr/>
          <p:nvPr/>
        </p:nvSpPr>
        <p:spPr>
          <a:xfrm>
            <a:off x="6309360" y="2743200"/>
            <a:ext cx="1463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Protocol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286000" y="3566160"/>
            <a:ext cx="4572000" cy="0"/>
          </a:xfrm>
          <a:prstGeom prst="line">
            <a:avLst/>
          </a:prstGeom>
          <a:noFill/>
          <a:ln w="12700">
            <a:solidFill>
              <a:srgbClr val="4444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57200" y="370332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Basil Udoudoh  |  Cloud GTM Lead, Slalom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411480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5A623"/>
                </a:solidFill>
              </a:rPr>
              <a:t>linkedin.com/in/basiludoudoh  |  github.com/budoudoh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4526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888888"/>
                </a:solidFill>
              </a:rPr>
              <a:t>☕  Now go set up a proper wake-up workflow.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C3B8861-A040-468F-8242-EC9E0A01EC6C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1cb30148-467c-4a1d-804e-02707dcb50a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43</TotalTime>
  <Words>1649</Words>
  <Application>Microsoft Office PowerPoint</Application>
  <PresentationFormat>On-screen Show (16:9)</PresentationFormat>
  <Paragraphs>327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S.T.E.P.: Snooze Time Extension Protocol</dc:title>
  <dc:subject>PptxGenJS Presentation</dc:subject>
  <dc:creator>Basil Udoudoh</dc:creator>
  <cp:lastModifiedBy>Basil Udoudoh</cp:lastModifiedBy>
  <cp:revision>2</cp:revision>
  <dcterms:created xsi:type="dcterms:W3CDTF">2026-05-24T17:03:01Z</dcterms:created>
  <dcterms:modified xsi:type="dcterms:W3CDTF">2026-05-24T18:09:40Z</dcterms:modified>
</cp:coreProperties>
</file>